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 (MS)" panose="020B0604020202020204" charset="0"/>
      <p:regular r:id="rId16"/>
    </p:embeddedFont>
    <p:embeddedFont>
      <p:font typeface="Calibri (MS) Bold" panose="020B0604020202020204" charset="0"/>
      <p:regular r:id="rId17"/>
    </p:embeddedFont>
    <p:embeddedFont>
      <p:font typeface="Calibri (MS) Italics" panose="020B0604020202020204" charset="0"/>
      <p:regular r:id="rId18"/>
    </p:embeddedFont>
    <p:embeddedFont>
      <p:font typeface="TT Rounds Condense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69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8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sv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5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6.jpe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svg"/><Relationship Id="rId3" Type="http://schemas.openxmlformats.org/officeDocument/2006/relationships/image" Target="../media/image5.jpe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6.jpeg"/><Relationship Id="rId9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5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svg"/><Relationship Id="rId4" Type="http://schemas.openxmlformats.org/officeDocument/2006/relationships/image" Target="../media/image6.jpeg"/><Relationship Id="rId9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5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5.jpeg"/><Relationship Id="rId7" Type="http://schemas.openxmlformats.org/officeDocument/2006/relationships/image" Target="../media/image45.sv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0" Type="http://schemas.openxmlformats.org/officeDocument/2006/relationships/image" Target="../media/image48.svg"/><Relationship Id="rId4" Type="http://schemas.openxmlformats.org/officeDocument/2006/relationships/image" Target="../media/image6.jpeg"/><Relationship Id="rId9" Type="http://schemas.openxmlformats.org/officeDocument/2006/relationships/image" Target="../media/image4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svg"/><Relationship Id="rId5" Type="http://schemas.openxmlformats.org/officeDocument/2006/relationships/image" Target="../media/image53.sv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.jpe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56.svg"/><Relationship Id="rId4" Type="http://schemas.openxmlformats.org/officeDocument/2006/relationships/image" Target="../media/image6.jpeg"/><Relationship Id="rId9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61.sv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6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32103" y="-927097"/>
            <a:ext cx="4597432" cy="4597336"/>
          </a:xfrm>
          <a:custGeom>
            <a:avLst/>
            <a:gdLst/>
            <a:ahLst/>
            <a:cxnLst/>
            <a:rect l="l" t="t" r="r" b="b"/>
            <a:pathLst>
              <a:path w="4597432" h="4597336">
                <a:moveTo>
                  <a:pt x="0" y="0"/>
                </a:moveTo>
                <a:lnTo>
                  <a:pt x="4597432" y="0"/>
                </a:lnTo>
                <a:lnTo>
                  <a:pt x="4597432" y="4597337"/>
                </a:lnTo>
                <a:lnTo>
                  <a:pt x="0" y="4597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12263" y="4559303"/>
            <a:ext cx="3317272" cy="3317176"/>
          </a:xfrm>
          <a:custGeom>
            <a:avLst/>
            <a:gdLst/>
            <a:ahLst/>
            <a:cxnLst/>
            <a:rect l="l" t="t" r="r" b="b"/>
            <a:pathLst>
              <a:path w="3317272" h="3317176">
                <a:moveTo>
                  <a:pt x="0" y="0"/>
                </a:moveTo>
                <a:lnTo>
                  <a:pt x="3317272" y="0"/>
                </a:lnTo>
                <a:lnTo>
                  <a:pt x="3317272" y="3317177"/>
                </a:lnTo>
                <a:lnTo>
                  <a:pt x="0" y="3317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27097" y="7302503"/>
            <a:ext cx="2768632" cy="2768536"/>
          </a:xfrm>
          <a:custGeom>
            <a:avLst/>
            <a:gdLst/>
            <a:ahLst/>
            <a:cxnLst/>
            <a:rect l="l" t="t" r="r" b="b"/>
            <a:pathLst>
              <a:path w="2768632" h="2768536">
                <a:moveTo>
                  <a:pt x="0" y="0"/>
                </a:moveTo>
                <a:lnTo>
                  <a:pt x="2768632" y="0"/>
                </a:lnTo>
                <a:lnTo>
                  <a:pt x="2768632" y="2768537"/>
                </a:lnTo>
                <a:lnTo>
                  <a:pt x="0" y="2768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7463" y="1084583"/>
            <a:ext cx="5146072" cy="720280"/>
          </a:xfrm>
          <a:custGeom>
            <a:avLst/>
            <a:gdLst/>
            <a:ahLst/>
            <a:cxnLst/>
            <a:rect l="l" t="t" r="r" b="b"/>
            <a:pathLst>
              <a:path w="5146072" h="720280">
                <a:moveTo>
                  <a:pt x="0" y="0"/>
                </a:moveTo>
                <a:lnTo>
                  <a:pt x="5146072" y="0"/>
                </a:lnTo>
                <a:lnTo>
                  <a:pt x="5146072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80160" y="1133856"/>
            <a:ext cx="5120640" cy="621792"/>
            <a:chOff x="0" y="0"/>
            <a:chExt cx="6827520" cy="8290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27520" cy="829056"/>
            </a:xfrm>
            <a:custGeom>
              <a:avLst/>
              <a:gdLst/>
              <a:ahLst/>
              <a:cxnLst/>
              <a:rect l="l" t="t" r="r" b="b"/>
              <a:pathLst>
                <a:path w="6827520" h="829056">
                  <a:moveTo>
                    <a:pt x="0" y="0"/>
                  </a:moveTo>
                  <a:lnTo>
                    <a:pt x="6827520" y="0"/>
                  </a:lnTo>
                  <a:lnTo>
                    <a:pt x="6827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10353" b="-11035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80160" y="1098137"/>
            <a:ext cx="5120640" cy="657511"/>
            <a:chOff x="0" y="0"/>
            <a:chExt cx="6827520" cy="8766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27520" cy="876681"/>
            </a:xfrm>
            <a:custGeom>
              <a:avLst/>
              <a:gdLst/>
              <a:ahLst/>
              <a:cxnLst/>
              <a:rect l="l" t="t" r="r" b="b"/>
              <a:pathLst>
                <a:path w="6827520" h="876681">
                  <a:moveTo>
                    <a:pt x="0" y="0"/>
                  </a:moveTo>
                  <a:lnTo>
                    <a:pt x="6827520" y="0"/>
                  </a:lnTo>
                  <a:lnTo>
                    <a:pt x="68275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01747" b="-10174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827520" cy="924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 629: AI in Systems Biology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80160" y="2194560"/>
            <a:ext cx="15727680" cy="2574131"/>
            <a:chOff x="0" y="0"/>
            <a:chExt cx="20970240" cy="34321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70239" cy="3432175"/>
            </a:xfrm>
            <a:custGeom>
              <a:avLst/>
              <a:gdLst/>
              <a:ahLst/>
              <a:cxnLst/>
              <a:rect l="l" t="t" r="r" b="b"/>
              <a:pathLst>
                <a:path w="20970239" h="3432175">
                  <a:moveTo>
                    <a:pt x="0" y="0"/>
                  </a:moveTo>
                  <a:lnTo>
                    <a:pt x="20970239" y="0"/>
                  </a:lnTo>
                  <a:lnTo>
                    <a:pt x="20970239" y="3432175"/>
                  </a:lnTo>
                  <a:lnTo>
                    <a:pt x="0" y="343217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968" b="-6896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280160" y="2001679"/>
            <a:ext cx="15727680" cy="2767012"/>
            <a:chOff x="0" y="0"/>
            <a:chExt cx="20970240" cy="36893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970239" cy="3689350"/>
            </a:xfrm>
            <a:custGeom>
              <a:avLst/>
              <a:gdLst/>
              <a:ahLst/>
              <a:cxnLst/>
              <a:rect l="l" t="t" r="r" b="b"/>
              <a:pathLst>
                <a:path w="20970239" h="3689350">
                  <a:moveTo>
                    <a:pt x="0" y="0"/>
                  </a:moveTo>
                  <a:lnTo>
                    <a:pt x="20970239" y="0"/>
                  </a:lnTo>
                  <a:lnTo>
                    <a:pt x="20970239" y="3689350"/>
                  </a:lnTo>
                  <a:lnTo>
                    <a:pt x="0" y="36893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60752" b="-6075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57175"/>
              <a:ext cx="20970240" cy="3946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60"/>
                </a:lnSpc>
              </a:pPr>
              <a:r>
                <a:rPr lang="en-US" sz="12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DLPRB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0160" y="4206240"/>
            <a:ext cx="15727680" cy="1097280"/>
            <a:chOff x="0" y="0"/>
            <a:chExt cx="20970240" cy="14630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29091" b="-22909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280160" y="4206240"/>
            <a:ext cx="15727680" cy="1097280"/>
            <a:chOff x="0" y="0"/>
            <a:chExt cx="20970240" cy="14630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0970240" cy="14630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spc="-29">
                  <a:solidFill>
                    <a:srgbClr val="1B8FC1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Deep Learning for Protein-RNA Binding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0160" y="5486400"/>
            <a:ext cx="13716000" cy="1645920"/>
            <a:chOff x="0" y="0"/>
            <a:chExt cx="18288000" cy="21945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288000" cy="2194560"/>
            </a:xfrm>
            <a:custGeom>
              <a:avLst/>
              <a:gdLst/>
              <a:ahLst/>
              <a:cxnLst/>
              <a:rect l="l" t="t" r="r" b="b"/>
              <a:pathLst>
                <a:path w="18288000" h="2194560">
                  <a:moveTo>
                    <a:pt x="0" y="0"/>
                  </a:moveTo>
                  <a:lnTo>
                    <a:pt x="18288000" y="0"/>
                  </a:lnTo>
                  <a:lnTo>
                    <a:pt x="18288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12262" b="-112262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280160" y="5436394"/>
            <a:ext cx="13716000" cy="1695926"/>
            <a:chOff x="0" y="0"/>
            <a:chExt cx="18288000" cy="226123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288000" cy="2261235"/>
            </a:xfrm>
            <a:custGeom>
              <a:avLst/>
              <a:gdLst/>
              <a:ahLst/>
              <a:cxnLst/>
              <a:rect l="l" t="t" r="r" b="b"/>
              <a:pathLst>
                <a:path w="18288000" h="2261235">
                  <a:moveTo>
                    <a:pt x="0" y="0"/>
                  </a:moveTo>
                  <a:lnTo>
                    <a:pt x="18288000" y="0"/>
                  </a:lnTo>
                  <a:lnTo>
                    <a:pt x="1828800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07587" b="-10758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18288000" cy="23279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A8C5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Learning Intrinsic Protein-RNA Binding Preferences</a:t>
              </a:r>
            </a:p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A8C5D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Using CNN &amp; RNN Architectures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-12697" y="9314183"/>
            <a:ext cx="18313336" cy="985457"/>
          </a:xfrm>
          <a:custGeom>
            <a:avLst/>
            <a:gdLst/>
            <a:ahLst/>
            <a:cxnLst/>
            <a:rect l="l" t="t" r="r" b="b"/>
            <a:pathLst>
              <a:path w="18313336" h="985457">
                <a:moveTo>
                  <a:pt x="0" y="0"/>
                </a:moveTo>
                <a:lnTo>
                  <a:pt x="18313337" y="0"/>
                </a:lnTo>
                <a:lnTo>
                  <a:pt x="18313337" y="985457"/>
                </a:lnTo>
                <a:lnTo>
                  <a:pt x="0" y="985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548640" y="9381744"/>
            <a:ext cx="17190720" cy="841248"/>
            <a:chOff x="0" y="0"/>
            <a:chExt cx="22920960" cy="112166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920961" cy="1121664"/>
            </a:xfrm>
            <a:custGeom>
              <a:avLst/>
              <a:gdLst/>
              <a:ahLst/>
              <a:cxnLst/>
              <a:rect l="l" t="t" r="r" b="b"/>
              <a:pathLst>
                <a:path w="22920961" h="1121664">
                  <a:moveTo>
                    <a:pt x="0" y="0"/>
                  </a:moveTo>
                  <a:lnTo>
                    <a:pt x="22920961" y="0"/>
                  </a:lnTo>
                  <a:lnTo>
                    <a:pt x="22920961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47895" b="-34789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604" b="-2196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64331"/>
            <a:ext cx="16459200" cy="1281589"/>
            <a:chOff x="0" y="0"/>
            <a:chExt cx="21945600" cy="17087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708785"/>
            </a:xfrm>
            <a:custGeom>
              <a:avLst/>
              <a:gdLst/>
              <a:ahLst/>
              <a:cxnLst/>
              <a:rect l="l" t="t" r="r" b="b"/>
              <a:pathLst>
                <a:path w="21945600" h="1708785">
                  <a:moveTo>
                    <a:pt x="0" y="0"/>
                  </a:moveTo>
                  <a:lnTo>
                    <a:pt x="21945600" y="0"/>
                  </a:lnTo>
                  <a:lnTo>
                    <a:pt x="21945600" y="1708785"/>
                  </a:lnTo>
                  <a:lnTo>
                    <a:pt x="0" y="1708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242" b="-20024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832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Biological Problem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88997" y="1803397"/>
            <a:ext cx="7914704" cy="7183184"/>
          </a:xfrm>
          <a:custGeom>
            <a:avLst/>
            <a:gdLst/>
            <a:ahLst/>
            <a:cxnLst/>
            <a:rect l="l" t="t" r="r" b="b"/>
            <a:pathLst>
              <a:path w="7914704" h="7183184">
                <a:moveTo>
                  <a:pt x="0" y="0"/>
                </a:moveTo>
                <a:lnTo>
                  <a:pt x="7914703" y="0"/>
                </a:lnTo>
                <a:lnTo>
                  <a:pt x="7914703" y="7183183"/>
                </a:lnTo>
                <a:lnTo>
                  <a:pt x="0" y="7183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01703" y="1816103"/>
            <a:ext cx="7889176" cy="848297"/>
          </a:xfrm>
          <a:custGeom>
            <a:avLst/>
            <a:gdLst/>
            <a:ahLst/>
            <a:cxnLst/>
            <a:rect l="l" t="t" r="r" b="b"/>
            <a:pathLst>
              <a:path w="7889176" h="848297">
                <a:moveTo>
                  <a:pt x="0" y="0"/>
                </a:moveTo>
                <a:lnTo>
                  <a:pt x="7889177" y="0"/>
                </a:lnTo>
                <a:lnTo>
                  <a:pt x="78891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88720" y="1883664"/>
            <a:ext cx="7315200" cy="694944"/>
            <a:chOff x="0" y="0"/>
            <a:chExt cx="9753600" cy="926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53600" cy="926592"/>
            </a:xfrm>
            <a:custGeom>
              <a:avLst/>
              <a:gdLst/>
              <a:ahLst/>
              <a:cxnLst/>
              <a:rect l="l" t="t" r="r" b="b"/>
              <a:pathLst>
                <a:path w="9753600" h="926592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962" b="-15496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188720" y="1833658"/>
            <a:ext cx="7315200" cy="744950"/>
            <a:chOff x="0" y="0"/>
            <a:chExt cx="9753600" cy="9932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53600" cy="993267"/>
            </a:xfrm>
            <a:custGeom>
              <a:avLst/>
              <a:gdLst/>
              <a:ahLst/>
              <a:cxnLst/>
              <a:rect l="l" t="t" r="r" b="b"/>
              <a:pathLst>
                <a:path w="9753600" h="993267">
                  <a:moveTo>
                    <a:pt x="0" y="0"/>
                  </a:moveTo>
                  <a:lnTo>
                    <a:pt x="9753600" y="0"/>
                  </a:lnTo>
                  <a:lnTo>
                    <a:pt x="9753600" y="993267"/>
                  </a:lnTo>
                  <a:lnTo>
                    <a:pt x="0" y="9932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1337" b="-14133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9753600" cy="10599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Protein-RNA Binding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2785110"/>
            <a:ext cx="694944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RBPs regulate splicing, translation, and gene expression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4248150"/>
            <a:ext cx="694944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 In vitro: RNAcompete measures binding of 1 protein to 240,000+ short RNAs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" y="5711190"/>
            <a:ext cx="694944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 In vivo: CLIP-seq experiments capture binding in living cells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1600" y="7174230"/>
            <a:ext cx="6949440" cy="7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 In vivo data is noisy with low signal-to-noise so we avoid training on this data.</a:t>
            </a:r>
          </a:p>
        </p:txBody>
      </p:sp>
      <p:sp>
        <p:nvSpPr>
          <p:cNvPr id="18" name="Freeform 18"/>
          <p:cNvSpPr/>
          <p:nvPr/>
        </p:nvSpPr>
        <p:spPr>
          <a:xfrm>
            <a:off x="9484357" y="1803397"/>
            <a:ext cx="7914704" cy="7183184"/>
          </a:xfrm>
          <a:custGeom>
            <a:avLst/>
            <a:gdLst/>
            <a:ahLst/>
            <a:cxnLst/>
            <a:rect l="l" t="t" r="r" b="b"/>
            <a:pathLst>
              <a:path w="7914704" h="7183184">
                <a:moveTo>
                  <a:pt x="0" y="0"/>
                </a:moveTo>
                <a:lnTo>
                  <a:pt x="7914703" y="0"/>
                </a:lnTo>
                <a:lnTo>
                  <a:pt x="7914703" y="7183183"/>
                </a:lnTo>
                <a:lnTo>
                  <a:pt x="0" y="71831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497063" y="1816103"/>
            <a:ext cx="7889176" cy="848297"/>
          </a:xfrm>
          <a:custGeom>
            <a:avLst/>
            <a:gdLst/>
            <a:ahLst/>
            <a:cxnLst/>
            <a:rect l="l" t="t" r="r" b="b"/>
            <a:pathLst>
              <a:path w="7889176" h="848297">
                <a:moveTo>
                  <a:pt x="0" y="0"/>
                </a:moveTo>
                <a:lnTo>
                  <a:pt x="7889177" y="0"/>
                </a:lnTo>
                <a:lnTo>
                  <a:pt x="78891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784080" y="1883664"/>
            <a:ext cx="7315200" cy="694944"/>
            <a:chOff x="0" y="0"/>
            <a:chExt cx="9753600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53600" cy="926592"/>
            </a:xfrm>
            <a:custGeom>
              <a:avLst/>
              <a:gdLst/>
              <a:ahLst/>
              <a:cxnLst/>
              <a:rect l="l" t="t" r="r" b="b"/>
              <a:pathLst>
                <a:path w="9753600" h="926592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962" b="-15496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9784080" y="1833658"/>
            <a:ext cx="7315200" cy="744950"/>
            <a:chOff x="0" y="0"/>
            <a:chExt cx="9753600" cy="99326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53600" cy="993267"/>
            </a:xfrm>
            <a:custGeom>
              <a:avLst/>
              <a:gdLst/>
              <a:ahLst/>
              <a:cxnLst/>
              <a:rect l="l" t="t" r="r" b="b"/>
              <a:pathLst>
                <a:path w="9753600" h="993267">
                  <a:moveTo>
                    <a:pt x="0" y="0"/>
                  </a:moveTo>
                  <a:lnTo>
                    <a:pt x="9753600" y="0"/>
                  </a:lnTo>
                  <a:lnTo>
                    <a:pt x="9753600" y="993267"/>
                  </a:lnTo>
                  <a:lnTo>
                    <a:pt x="0" y="9932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1337" b="-14133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9753600" cy="10599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Computational Challenge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966960" y="2785110"/>
            <a:ext cx="694944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Infer protein-specific RNA-binding models from high-throughput data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66960" y="4248150"/>
            <a:ext cx="694944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 Both RNA sequence AND secondary structure determine binding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66960" y="5711190"/>
            <a:ext cx="694944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Manual feature engineering is labor-intensive; DL can auto-extract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66960" y="7174230"/>
            <a:ext cx="694944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 Goal: Predict binding intensity for any new RNA transcript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90600" y="9326880"/>
            <a:ext cx="16459200" cy="775211"/>
            <a:chOff x="0" y="0"/>
            <a:chExt cx="21945600" cy="103361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945600" cy="1033653"/>
            </a:xfrm>
            <a:custGeom>
              <a:avLst/>
              <a:gdLst/>
              <a:ahLst/>
              <a:cxnLst/>
              <a:rect l="l" t="t" r="r" b="b"/>
              <a:pathLst>
                <a:path w="21945600" h="1033653">
                  <a:moveTo>
                    <a:pt x="0" y="0"/>
                  </a:moveTo>
                  <a:lnTo>
                    <a:pt x="21945600" y="0"/>
                  </a:lnTo>
                  <a:lnTo>
                    <a:pt x="21945600" y="1033653"/>
                  </a:lnTo>
                  <a:lnTo>
                    <a:pt x="0" y="10336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403" b="-36339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604" b="-2196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64331"/>
            <a:ext cx="16459200" cy="1281589"/>
            <a:chOff x="0" y="0"/>
            <a:chExt cx="21945600" cy="17087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708785"/>
            </a:xfrm>
            <a:custGeom>
              <a:avLst/>
              <a:gdLst/>
              <a:ahLst/>
              <a:cxnLst/>
              <a:rect l="l" t="t" r="r" b="b"/>
              <a:pathLst>
                <a:path w="21945600" h="1708785">
                  <a:moveTo>
                    <a:pt x="0" y="0"/>
                  </a:moveTo>
                  <a:lnTo>
                    <a:pt x="21945600" y="0"/>
                  </a:lnTo>
                  <a:lnTo>
                    <a:pt x="21945600" y="1708785"/>
                  </a:lnTo>
                  <a:lnTo>
                    <a:pt x="0" y="1708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242" b="-20024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832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&amp; Data Pipeline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614677" y="1894837"/>
            <a:ext cx="4250798" cy="5537264"/>
          </a:xfrm>
          <a:custGeom>
            <a:avLst/>
            <a:gdLst/>
            <a:ahLst/>
            <a:cxnLst/>
            <a:rect l="l" t="t" r="r" b="b"/>
            <a:pathLst>
              <a:path w="4250798" h="5537264">
                <a:moveTo>
                  <a:pt x="0" y="0"/>
                </a:moveTo>
                <a:lnTo>
                  <a:pt x="4250798" y="0"/>
                </a:lnTo>
                <a:lnTo>
                  <a:pt x="4250798" y="5537263"/>
                </a:lnTo>
                <a:lnTo>
                  <a:pt x="0" y="5537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7383" y="1907543"/>
            <a:ext cx="4237968" cy="793432"/>
          </a:xfrm>
          <a:custGeom>
            <a:avLst/>
            <a:gdLst/>
            <a:ahLst/>
            <a:cxnLst/>
            <a:rect l="l" t="t" r="r" b="b"/>
            <a:pathLst>
              <a:path w="4237968" h="793432">
                <a:moveTo>
                  <a:pt x="0" y="0"/>
                </a:moveTo>
                <a:lnTo>
                  <a:pt x="4237968" y="0"/>
                </a:lnTo>
                <a:lnTo>
                  <a:pt x="4237968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22960" y="1956816"/>
            <a:ext cx="4042448" cy="694944"/>
            <a:chOff x="0" y="0"/>
            <a:chExt cx="5389931" cy="926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89880" cy="926592"/>
            </a:xfrm>
            <a:custGeom>
              <a:avLst/>
              <a:gdLst/>
              <a:ahLst/>
              <a:cxnLst/>
              <a:rect l="l" t="t" r="r" b="b"/>
              <a:pathLst>
                <a:path w="5389880" h="926592">
                  <a:moveTo>
                    <a:pt x="0" y="0"/>
                  </a:moveTo>
                  <a:lnTo>
                    <a:pt x="5389880" y="0"/>
                  </a:lnTo>
                  <a:lnTo>
                    <a:pt x="5389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264" b="-6326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22960" y="1921097"/>
            <a:ext cx="4042448" cy="730663"/>
            <a:chOff x="0" y="0"/>
            <a:chExt cx="5389931" cy="9742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89930" cy="974217"/>
            </a:xfrm>
            <a:custGeom>
              <a:avLst/>
              <a:gdLst/>
              <a:ahLst/>
              <a:cxnLst/>
              <a:rect l="l" t="t" r="r" b="b"/>
              <a:pathLst>
                <a:path w="5389930" h="974217">
                  <a:moveTo>
                    <a:pt x="0" y="0"/>
                  </a:moveTo>
                  <a:lnTo>
                    <a:pt x="5389930" y="0"/>
                  </a:lnTo>
                  <a:lnTo>
                    <a:pt x="538993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802" b="-5780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389931" cy="1021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RNAcompete (in vitro)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2834640"/>
            <a:ext cx="4754880" cy="768096"/>
            <a:chOff x="0" y="0"/>
            <a:chExt cx="6339840" cy="10241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38" b="-7053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914400" y="2798921"/>
            <a:ext cx="4754880" cy="803815"/>
            <a:chOff x="0" y="0"/>
            <a:chExt cx="6339840" cy="10717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39840" cy="1071753"/>
            </a:xfrm>
            <a:custGeom>
              <a:avLst/>
              <a:gdLst/>
              <a:ahLst/>
              <a:cxnLst/>
              <a:rect l="l" t="t" r="r" b="b"/>
              <a:pathLst>
                <a:path w="6339840" h="1071753">
                  <a:moveTo>
                    <a:pt x="0" y="0"/>
                  </a:moveTo>
                  <a:lnTo>
                    <a:pt x="6339840" y="0"/>
                  </a:lnTo>
                  <a:lnTo>
                    <a:pt x="6339840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261" b="-6526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633984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proteins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3639312"/>
            <a:ext cx="4754880" cy="768096"/>
            <a:chOff x="0" y="0"/>
            <a:chExt cx="6339840" cy="10241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38" b="-7053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14400" y="3603593"/>
            <a:ext cx="4754880" cy="803815"/>
            <a:chOff x="0" y="0"/>
            <a:chExt cx="6339840" cy="107175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9840" cy="1071753"/>
            </a:xfrm>
            <a:custGeom>
              <a:avLst/>
              <a:gdLst/>
              <a:ahLst/>
              <a:cxnLst/>
              <a:rect l="l" t="t" r="r" b="b"/>
              <a:pathLst>
                <a:path w="6339840" h="1071753">
                  <a:moveTo>
                    <a:pt x="0" y="0"/>
                  </a:moveTo>
                  <a:lnTo>
                    <a:pt x="6339840" y="0"/>
                  </a:lnTo>
                  <a:lnTo>
                    <a:pt x="6339840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261" b="-6526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33984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~120,000 short RNAs each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4400" y="4443984"/>
            <a:ext cx="4754880" cy="768096"/>
            <a:chOff x="0" y="0"/>
            <a:chExt cx="6339840" cy="10241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38" b="-70536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14400" y="4408265"/>
            <a:ext cx="4754880" cy="803815"/>
            <a:chOff x="0" y="0"/>
            <a:chExt cx="6339840" cy="10717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39840" cy="1071753"/>
            </a:xfrm>
            <a:custGeom>
              <a:avLst/>
              <a:gdLst/>
              <a:ahLst/>
              <a:cxnLst/>
              <a:rect l="l" t="t" r="r" b="b"/>
              <a:pathLst>
                <a:path w="6339840" h="1071753">
                  <a:moveTo>
                    <a:pt x="0" y="0"/>
                  </a:moveTo>
                  <a:lnTo>
                    <a:pt x="6339840" y="0"/>
                  </a:lnTo>
                  <a:lnTo>
                    <a:pt x="6339840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261" b="-6526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33984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30–40 nucleotides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" y="5248656"/>
            <a:ext cx="4754880" cy="768096"/>
            <a:chOff x="0" y="0"/>
            <a:chExt cx="6339840" cy="10241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38" b="-70536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914400" y="5212937"/>
            <a:ext cx="4754880" cy="803815"/>
            <a:chOff x="0" y="0"/>
            <a:chExt cx="6339840" cy="107175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339840" cy="1071753"/>
            </a:xfrm>
            <a:custGeom>
              <a:avLst/>
              <a:gdLst/>
              <a:ahLst/>
              <a:cxnLst/>
              <a:rect l="l" t="t" r="r" b="b"/>
              <a:pathLst>
                <a:path w="6339840" h="1071753">
                  <a:moveTo>
                    <a:pt x="0" y="0"/>
                  </a:moveTo>
                  <a:lnTo>
                    <a:pt x="6339840" y="0"/>
                  </a:lnTo>
                  <a:lnTo>
                    <a:pt x="6339840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261" b="-6526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633984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Quantitative binding intensity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4400" y="6053328"/>
            <a:ext cx="4754880" cy="768096"/>
            <a:chOff x="0" y="0"/>
            <a:chExt cx="633984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339840" cy="1024128"/>
            </a:xfrm>
            <a:custGeom>
              <a:avLst/>
              <a:gdLst/>
              <a:ahLst/>
              <a:cxnLst/>
              <a:rect l="l" t="t" r="r" b="b"/>
              <a:pathLst>
                <a:path w="6339840" h="1024128">
                  <a:moveTo>
                    <a:pt x="0" y="0"/>
                  </a:moveTo>
                  <a:lnTo>
                    <a:pt x="6339840" y="0"/>
                  </a:lnTo>
                  <a:lnTo>
                    <a:pt x="63398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538" b="-70536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914400" y="6017609"/>
            <a:ext cx="4754880" cy="803815"/>
            <a:chOff x="0" y="0"/>
            <a:chExt cx="6339840" cy="107175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339840" cy="1071753"/>
            </a:xfrm>
            <a:custGeom>
              <a:avLst/>
              <a:gdLst/>
              <a:ahLst/>
              <a:cxnLst/>
              <a:rect l="l" t="t" r="r" b="b"/>
              <a:pathLst>
                <a:path w="6339840" h="1071753">
                  <a:moveTo>
                    <a:pt x="0" y="0"/>
                  </a:moveTo>
                  <a:lnTo>
                    <a:pt x="6339840" y="0"/>
                  </a:lnTo>
                  <a:lnTo>
                    <a:pt x="6339840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261" b="-6526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633984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A → train, Set B → test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95494" y="8110690"/>
            <a:ext cx="5303520" cy="768096"/>
            <a:chOff x="0" y="0"/>
            <a:chExt cx="7071360" cy="102412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071360" cy="1024128"/>
            </a:xfrm>
            <a:custGeom>
              <a:avLst/>
              <a:gdLst/>
              <a:ahLst/>
              <a:cxnLst/>
              <a:rect l="l" t="t" r="r" b="b"/>
              <a:pathLst>
                <a:path w="7071360" h="1024128">
                  <a:moveTo>
                    <a:pt x="0" y="0"/>
                  </a:moveTo>
                  <a:lnTo>
                    <a:pt x="7071360" y="0"/>
                  </a:lnTo>
                  <a:lnTo>
                    <a:pt x="70713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/>
              <a:stretch>
                <a:fillRect t="-84445" b="-84445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6682826" y="8098022"/>
            <a:ext cx="5328856" cy="793432"/>
            <a:chOff x="0" y="0"/>
            <a:chExt cx="7105142" cy="105791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105142" cy="1057912"/>
            </a:xfrm>
            <a:custGeom>
              <a:avLst/>
              <a:gdLst/>
              <a:ahLst/>
              <a:cxnLst/>
              <a:rect l="l" t="t" r="r" b="b"/>
              <a:pathLst>
                <a:path w="7105142" h="105791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041019"/>
                  </a:lnTo>
                  <a:cubicBezTo>
                    <a:pt x="7105142" y="1050417"/>
                    <a:pt x="7097522" y="1057910"/>
                    <a:pt x="70882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088251" y="1024128"/>
                  </a:lnTo>
                  <a:lnTo>
                    <a:pt x="7088251" y="1041019"/>
                  </a:lnTo>
                  <a:lnTo>
                    <a:pt x="7071360" y="104101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3" name="Freeform 43"/>
          <p:cNvSpPr/>
          <p:nvPr/>
        </p:nvSpPr>
        <p:spPr>
          <a:xfrm>
            <a:off x="13413915" y="1894837"/>
            <a:ext cx="4625226" cy="5537264"/>
          </a:xfrm>
          <a:custGeom>
            <a:avLst/>
            <a:gdLst/>
            <a:ahLst/>
            <a:cxnLst/>
            <a:rect l="l" t="t" r="r" b="b"/>
            <a:pathLst>
              <a:path w="4625226" h="5537264">
                <a:moveTo>
                  <a:pt x="0" y="0"/>
                </a:moveTo>
                <a:lnTo>
                  <a:pt x="4625225" y="0"/>
                </a:lnTo>
                <a:lnTo>
                  <a:pt x="4625225" y="5537263"/>
                </a:lnTo>
                <a:lnTo>
                  <a:pt x="0" y="5537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413915" y="1907543"/>
            <a:ext cx="4612415" cy="793432"/>
          </a:xfrm>
          <a:custGeom>
            <a:avLst/>
            <a:gdLst/>
            <a:ahLst/>
            <a:cxnLst/>
            <a:rect l="l" t="t" r="r" b="b"/>
            <a:pathLst>
              <a:path w="4612415" h="793432">
                <a:moveTo>
                  <a:pt x="0" y="0"/>
                </a:moveTo>
                <a:lnTo>
                  <a:pt x="4612414" y="0"/>
                </a:lnTo>
                <a:lnTo>
                  <a:pt x="4612414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13413915" y="2006098"/>
            <a:ext cx="4416885" cy="694944"/>
            <a:chOff x="0" y="0"/>
            <a:chExt cx="5889180" cy="92659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889117" cy="926592"/>
            </a:xfrm>
            <a:custGeom>
              <a:avLst/>
              <a:gdLst/>
              <a:ahLst/>
              <a:cxnLst/>
              <a:rect l="l" t="t" r="r" b="b"/>
              <a:pathLst>
                <a:path w="5889117" h="926592">
                  <a:moveTo>
                    <a:pt x="0" y="0"/>
                  </a:moveTo>
                  <a:lnTo>
                    <a:pt x="5889117" y="0"/>
                  </a:lnTo>
                  <a:lnTo>
                    <a:pt x="5889117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755" r="-1" b="-73755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3413915" y="1970380"/>
            <a:ext cx="4416885" cy="730663"/>
            <a:chOff x="0" y="0"/>
            <a:chExt cx="5889180" cy="97421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889177" cy="974217"/>
            </a:xfrm>
            <a:custGeom>
              <a:avLst/>
              <a:gdLst/>
              <a:ahLst/>
              <a:cxnLst/>
              <a:rect l="l" t="t" r="r" b="b"/>
              <a:pathLst>
                <a:path w="5889177" h="974217">
                  <a:moveTo>
                    <a:pt x="0" y="0"/>
                  </a:moveTo>
                  <a:lnTo>
                    <a:pt x="5889177" y="0"/>
                  </a:lnTo>
                  <a:lnTo>
                    <a:pt x="5889177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7787" b="-6778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5889180" cy="1021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RNA Structure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413915" y="2834640"/>
            <a:ext cx="4325445" cy="768096"/>
            <a:chOff x="0" y="0"/>
            <a:chExt cx="5767260" cy="102412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767324" cy="1024128"/>
            </a:xfrm>
            <a:custGeom>
              <a:avLst/>
              <a:gdLst/>
              <a:ahLst/>
              <a:cxnLst/>
              <a:rect l="l" t="t" r="r" b="b"/>
              <a:pathLst>
                <a:path w="5767324" h="1024128">
                  <a:moveTo>
                    <a:pt x="0" y="0"/>
                  </a:moveTo>
                  <a:lnTo>
                    <a:pt x="5767324" y="0"/>
                  </a:lnTo>
                  <a:lnTo>
                    <a:pt x="576732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51" r="1" b="-59651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13413915" y="2798921"/>
            <a:ext cx="4325445" cy="803815"/>
            <a:chOff x="0" y="0"/>
            <a:chExt cx="5767260" cy="107175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767264" cy="1071753"/>
            </a:xfrm>
            <a:custGeom>
              <a:avLst/>
              <a:gdLst/>
              <a:ahLst/>
              <a:cxnLst/>
              <a:rect l="l" t="t" r="r" b="b"/>
              <a:pathLst>
                <a:path w="5767264" h="1071753">
                  <a:moveTo>
                    <a:pt x="0" y="0"/>
                  </a:moveTo>
                  <a:lnTo>
                    <a:pt x="5767264" y="0"/>
                  </a:lnTo>
                  <a:lnTo>
                    <a:pt x="5767264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851" b="-54851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576726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RNAplfold predictions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413915" y="3639312"/>
            <a:ext cx="4325445" cy="768096"/>
            <a:chOff x="0" y="0"/>
            <a:chExt cx="5767260" cy="102412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767324" cy="1024128"/>
            </a:xfrm>
            <a:custGeom>
              <a:avLst/>
              <a:gdLst/>
              <a:ahLst/>
              <a:cxnLst/>
              <a:rect l="l" t="t" r="r" b="b"/>
              <a:pathLst>
                <a:path w="5767324" h="1024128">
                  <a:moveTo>
                    <a:pt x="0" y="0"/>
                  </a:moveTo>
                  <a:lnTo>
                    <a:pt x="5767324" y="0"/>
                  </a:lnTo>
                  <a:lnTo>
                    <a:pt x="576732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8198" r="1" b="-78198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3413915" y="3603593"/>
            <a:ext cx="4325445" cy="803815"/>
            <a:chOff x="0" y="0"/>
            <a:chExt cx="5767260" cy="107175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767264" cy="1071753"/>
            </a:xfrm>
            <a:custGeom>
              <a:avLst/>
              <a:gdLst/>
              <a:ahLst/>
              <a:cxnLst/>
              <a:rect l="l" t="t" r="r" b="b"/>
              <a:pathLst>
                <a:path w="5767264" h="1071753">
                  <a:moveTo>
                    <a:pt x="0" y="0"/>
                  </a:moveTo>
                  <a:lnTo>
                    <a:pt x="5767264" y="0"/>
                  </a:lnTo>
                  <a:lnTo>
                    <a:pt x="5767264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851" b="-5485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576726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structural contexts: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413915" y="4443984"/>
            <a:ext cx="4325445" cy="768096"/>
            <a:chOff x="0" y="0"/>
            <a:chExt cx="5767260" cy="102412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767324" cy="1024128"/>
            </a:xfrm>
            <a:custGeom>
              <a:avLst/>
              <a:gdLst/>
              <a:ahLst/>
              <a:cxnLst/>
              <a:rect l="l" t="t" r="r" b="b"/>
              <a:pathLst>
                <a:path w="5767324" h="1024128">
                  <a:moveTo>
                    <a:pt x="0" y="0"/>
                  </a:moveTo>
                  <a:lnTo>
                    <a:pt x="5767324" y="0"/>
                  </a:lnTo>
                  <a:lnTo>
                    <a:pt x="576732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51" r="1" b="-59651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3413915" y="4408265"/>
            <a:ext cx="4325445" cy="803815"/>
            <a:chOff x="0" y="0"/>
            <a:chExt cx="5767260" cy="107175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767264" cy="1071753"/>
            </a:xfrm>
            <a:custGeom>
              <a:avLst/>
              <a:gdLst/>
              <a:ahLst/>
              <a:cxnLst/>
              <a:rect l="l" t="t" r="r" b="b"/>
              <a:pathLst>
                <a:path w="5767264" h="1071753">
                  <a:moveTo>
                    <a:pt x="0" y="0"/>
                  </a:moveTo>
                  <a:lnTo>
                    <a:pt x="5767264" y="0"/>
                  </a:lnTo>
                  <a:lnTo>
                    <a:pt x="5767264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851" b="-5485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576726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Hairpin, Inner, Multi,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413915" y="5248656"/>
            <a:ext cx="4325445" cy="768096"/>
            <a:chOff x="0" y="0"/>
            <a:chExt cx="5767260" cy="10241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767324" cy="1024128"/>
            </a:xfrm>
            <a:custGeom>
              <a:avLst/>
              <a:gdLst/>
              <a:ahLst/>
              <a:cxnLst/>
              <a:rect l="l" t="t" r="r" b="b"/>
              <a:pathLst>
                <a:path w="5767324" h="1024128">
                  <a:moveTo>
                    <a:pt x="0" y="0"/>
                  </a:moveTo>
                  <a:lnTo>
                    <a:pt x="5767324" y="0"/>
                  </a:lnTo>
                  <a:lnTo>
                    <a:pt x="576732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51" r="1" b="-59651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3413915" y="5212937"/>
            <a:ext cx="4325445" cy="803815"/>
            <a:chOff x="0" y="0"/>
            <a:chExt cx="5767260" cy="1071753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767264" cy="1071753"/>
            </a:xfrm>
            <a:custGeom>
              <a:avLst/>
              <a:gdLst/>
              <a:ahLst/>
              <a:cxnLst/>
              <a:rect l="l" t="t" r="r" b="b"/>
              <a:pathLst>
                <a:path w="5767264" h="1071753">
                  <a:moveTo>
                    <a:pt x="0" y="0"/>
                  </a:moveTo>
                  <a:lnTo>
                    <a:pt x="5767264" y="0"/>
                  </a:lnTo>
                  <a:lnTo>
                    <a:pt x="5767264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851" b="-54851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5767260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External, Paired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536273" y="6053328"/>
            <a:ext cx="4203087" cy="768096"/>
            <a:chOff x="0" y="0"/>
            <a:chExt cx="5604116" cy="102412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604129" cy="1024128"/>
            </a:xfrm>
            <a:custGeom>
              <a:avLst/>
              <a:gdLst/>
              <a:ahLst/>
              <a:cxnLst/>
              <a:rect l="l" t="t" r="r" b="b"/>
              <a:pathLst>
                <a:path w="5604129" h="1024128">
                  <a:moveTo>
                    <a:pt x="0" y="0"/>
                  </a:moveTo>
                  <a:lnTo>
                    <a:pt x="5604129" y="0"/>
                  </a:lnTo>
                  <a:lnTo>
                    <a:pt x="560412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550" b="-56548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13536273" y="6017609"/>
            <a:ext cx="4203087" cy="803815"/>
            <a:chOff x="0" y="0"/>
            <a:chExt cx="5604116" cy="107175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604116" cy="1071753"/>
            </a:xfrm>
            <a:custGeom>
              <a:avLst/>
              <a:gdLst/>
              <a:ahLst/>
              <a:cxnLst/>
              <a:rect l="l" t="t" r="r" b="b"/>
              <a:pathLst>
                <a:path w="5604116" h="1071753">
                  <a:moveTo>
                    <a:pt x="0" y="0"/>
                  </a:moveTo>
                  <a:lnTo>
                    <a:pt x="5604116" y="0"/>
                  </a:lnTo>
                  <a:lnTo>
                    <a:pt x="5604116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85" b="-51885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5604116" cy="1119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Probability vector / position</a:t>
              </a:r>
            </a:p>
          </p:txBody>
        </p:sp>
      </p:grpSp>
      <p:sp>
        <p:nvSpPr>
          <p:cNvPr id="75" name="Freeform 75"/>
          <p:cNvSpPr/>
          <p:nvPr/>
        </p:nvSpPr>
        <p:spPr>
          <a:xfrm>
            <a:off x="621030" y="7570470"/>
            <a:ext cx="17045940" cy="1866900"/>
          </a:xfrm>
          <a:custGeom>
            <a:avLst/>
            <a:gdLst/>
            <a:ahLst/>
            <a:cxnLst/>
            <a:rect l="l" t="t" r="r" b="b"/>
            <a:pathLst>
              <a:path w="17045940" h="1866900">
                <a:moveTo>
                  <a:pt x="0" y="0"/>
                </a:moveTo>
                <a:lnTo>
                  <a:pt x="17045940" y="0"/>
                </a:lnTo>
                <a:lnTo>
                  <a:pt x="1704594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76" name="Group 76"/>
          <p:cNvGrpSpPr/>
          <p:nvPr/>
        </p:nvGrpSpPr>
        <p:grpSpPr>
          <a:xfrm>
            <a:off x="1117692" y="7679684"/>
            <a:ext cx="16459200" cy="1554480"/>
            <a:chOff x="0" y="0"/>
            <a:chExt cx="21945600" cy="207264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168" b="-156169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117692" y="7636821"/>
            <a:ext cx="16459200" cy="1597342"/>
            <a:chOff x="0" y="0"/>
            <a:chExt cx="21945600" cy="212979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1945600" cy="2129790"/>
            </a:xfrm>
            <a:custGeom>
              <a:avLst/>
              <a:gdLst/>
              <a:ahLst/>
              <a:cxnLst/>
              <a:rect l="l" t="t" r="r" b="b"/>
              <a:pathLst>
                <a:path w="21945600" h="2129790">
                  <a:moveTo>
                    <a:pt x="0" y="0"/>
                  </a:moveTo>
                  <a:lnTo>
                    <a:pt x="21945600" y="0"/>
                  </a:lnTo>
                  <a:lnTo>
                    <a:pt x="21945600" y="2129790"/>
                  </a:lnTo>
                  <a:lnTo>
                    <a:pt x="0" y="21297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0776" b="-150776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21945600" cy="2186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Data flows into the network as: One-Hot Sequence [4-dim] + Structure Probabilities [5-dim] = 9-dim vector per nucleotide position → shape: (N, L, 9)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65408" y="2958217"/>
            <a:ext cx="8548507" cy="3889572"/>
            <a:chOff x="0" y="0"/>
            <a:chExt cx="11398009" cy="518609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397996" cy="5186045"/>
            </a:xfrm>
            <a:custGeom>
              <a:avLst/>
              <a:gdLst/>
              <a:ahLst/>
              <a:cxnLst/>
              <a:rect l="l" t="t" r="r" b="b"/>
              <a:pathLst>
                <a:path w="11397996" h="5186045">
                  <a:moveTo>
                    <a:pt x="0" y="0"/>
                  </a:moveTo>
                  <a:lnTo>
                    <a:pt x="11397996" y="0"/>
                  </a:lnTo>
                  <a:lnTo>
                    <a:pt x="11397996" y="5186045"/>
                  </a:lnTo>
                  <a:lnTo>
                    <a:pt x="0" y="518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" r="-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604" b="-2196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64331"/>
            <a:ext cx="16459200" cy="1281589"/>
            <a:chOff x="0" y="0"/>
            <a:chExt cx="21945600" cy="17087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708785"/>
            </a:xfrm>
            <a:custGeom>
              <a:avLst/>
              <a:gdLst/>
              <a:ahLst/>
              <a:cxnLst/>
              <a:rect l="l" t="t" r="r" b="b"/>
              <a:pathLst>
                <a:path w="21945600" h="1708785">
                  <a:moveTo>
                    <a:pt x="0" y="0"/>
                  </a:moveTo>
                  <a:lnTo>
                    <a:pt x="21945600" y="0"/>
                  </a:lnTo>
                  <a:lnTo>
                    <a:pt x="21945600" y="1708785"/>
                  </a:lnTo>
                  <a:lnTo>
                    <a:pt x="0" y="1708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0242" b="-20024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832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Representation to the Network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06117" y="1803397"/>
            <a:ext cx="7914704" cy="7731824"/>
          </a:xfrm>
          <a:custGeom>
            <a:avLst/>
            <a:gdLst/>
            <a:ahLst/>
            <a:cxnLst/>
            <a:rect l="l" t="t" r="r" b="b"/>
            <a:pathLst>
              <a:path w="7914704" h="7731824">
                <a:moveTo>
                  <a:pt x="0" y="0"/>
                </a:moveTo>
                <a:lnTo>
                  <a:pt x="7914703" y="0"/>
                </a:lnTo>
                <a:lnTo>
                  <a:pt x="7914703" y="7731823"/>
                </a:lnTo>
                <a:lnTo>
                  <a:pt x="0" y="7731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18823" y="1816103"/>
            <a:ext cx="7889176" cy="793432"/>
          </a:xfrm>
          <a:custGeom>
            <a:avLst/>
            <a:gdLst/>
            <a:ahLst/>
            <a:cxnLst/>
            <a:rect l="l" t="t" r="r" b="b"/>
            <a:pathLst>
              <a:path w="7889176" h="793432">
                <a:moveTo>
                  <a:pt x="0" y="0"/>
                </a:moveTo>
                <a:lnTo>
                  <a:pt x="7889177" y="0"/>
                </a:lnTo>
                <a:lnTo>
                  <a:pt x="7889177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14400" y="1865376"/>
            <a:ext cx="7498080" cy="694944"/>
            <a:chOff x="0" y="0"/>
            <a:chExt cx="9997440" cy="9265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97440" cy="926592"/>
            </a:xfrm>
            <a:custGeom>
              <a:avLst/>
              <a:gdLst/>
              <a:ahLst/>
              <a:cxnLst/>
              <a:rect l="l" t="t" r="r" b="b"/>
              <a:pathLst>
                <a:path w="9997440" h="926592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087" b="-16008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14400" y="1822514"/>
            <a:ext cx="7498080" cy="737806"/>
            <a:chOff x="0" y="0"/>
            <a:chExt cx="9997440" cy="9837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97440" cy="983742"/>
            </a:xfrm>
            <a:custGeom>
              <a:avLst/>
              <a:gdLst/>
              <a:ahLst/>
              <a:cxnLst/>
              <a:rect l="l" t="t" r="r" b="b"/>
              <a:pathLst>
                <a:path w="9997440" h="983742">
                  <a:moveTo>
                    <a:pt x="0" y="0"/>
                  </a:moveTo>
                  <a:lnTo>
                    <a:pt x="9997440" y="0"/>
                  </a:lnTo>
                  <a:lnTo>
                    <a:pt x="999744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019" b="-14801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997440" cy="1040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RNA Sequence Encoding  (4-dim)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2779776"/>
            <a:ext cx="7498080" cy="640080"/>
            <a:chOff x="0" y="0"/>
            <a:chExt cx="9997440" cy="853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095" b="-17809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05840" y="2751201"/>
            <a:ext cx="7498080" cy="668655"/>
            <a:chOff x="0" y="0"/>
            <a:chExt cx="9997440" cy="8915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97440" cy="891540"/>
            </a:xfrm>
            <a:custGeom>
              <a:avLst/>
              <a:gdLst/>
              <a:ahLst/>
              <a:cxnLst/>
              <a:rect l="l" t="t" r="r" b="b"/>
              <a:pathLst>
                <a:path w="9997440" h="891540">
                  <a:moveTo>
                    <a:pt x="0" y="0"/>
                  </a:moveTo>
                  <a:lnTo>
                    <a:pt x="9997440" y="0"/>
                  </a:lnTo>
                  <a:lnTo>
                    <a:pt x="999744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498" b="-16849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99744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One-hot encoding over alphabet {A, G, C, U}</a:t>
              </a:r>
            </a:p>
          </p:txBody>
        </p:sp>
      </p:grp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1005840" y="3474720"/>
          <a:ext cx="7239000" cy="292100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Nucl.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F1B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F1B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F1B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F1B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>
            <a:off x="1005840" y="6583680"/>
            <a:ext cx="7498080" cy="731520"/>
            <a:chOff x="0" y="0"/>
            <a:chExt cx="9997440" cy="9753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97440" cy="975360"/>
            </a:xfrm>
            <a:custGeom>
              <a:avLst/>
              <a:gdLst/>
              <a:ahLst/>
              <a:cxnLst/>
              <a:rect l="l" t="t" r="r" b="b"/>
              <a:pathLst>
                <a:path w="9997440" h="97536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83" b="-14958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005840" y="6547961"/>
            <a:ext cx="7498080" cy="767239"/>
            <a:chOff x="0" y="0"/>
            <a:chExt cx="9997440" cy="10229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997440" cy="1022985"/>
            </a:xfrm>
            <a:custGeom>
              <a:avLst/>
              <a:gdLst/>
              <a:ahLst/>
              <a:cxnLst/>
              <a:rect l="l" t="t" r="r" b="b"/>
              <a:pathLst>
                <a:path w="9997440" h="1022985">
                  <a:moveTo>
                    <a:pt x="0" y="0"/>
                  </a:moveTo>
                  <a:lnTo>
                    <a:pt x="9997440" y="0"/>
                  </a:lnTo>
                  <a:lnTo>
                    <a:pt x="999744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0423" b="-14042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997440" cy="10706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Shape: </a:t>
              </a: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(N_sequences, L_max, 4)  — shorter seqs are zero-padded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9484357" y="1803397"/>
            <a:ext cx="8097584" cy="7731824"/>
          </a:xfrm>
          <a:custGeom>
            <a:avLst/>
            <a:gdLst/>
            <a:ahLst/>
            <a:cxnLst/>
            <a:rect l="l" t="t" r="r" b="b"/>
            <a:pathLst>
              <a:path w="8097584" h="7731824">
                <a:moveTo>
                  <a:pt x="0" y="0"/>
                </a:moveTo>
                <a:lnTo>
                  <a:pt x="8097583" y="0"/>
                </a:lnTo>
                <a:lnTo>
                  <a:pt x="8097583" y="7731823"/>
                </a:lnTo>
                <a:lnTo>
                  <a:pt x="0" y="7731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497063" y="1816103"/>
            <a:ext cx="8072056" cy="793432"/>
          </a:xfrm>
          <a:custGeom>
            <a:avLst/>
            <a:gdLst/>
            <a:ahLst/>
            <a:cxnLst/>
            <a:rect l="l" t="t" r="r" b="b"/>
            <a:pathLst>
              <a:path w="8072056" h="793432">
                <a:moveTo>
                  <a:pt x="0" y="0"/>
                </a:moveTo>
                <a:lnTo>
                  <a:pt x="8072057" y="0"/>
                </a:lnTo>
                <a:lnTo>
                  <a:pt x="8072057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692640" y="1865376"/>
            <a:ext cx="7680960" cy="694944"/>
            <a:chOff x="0" y="0"/>
            <a:chExt cx="1024128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211" b="-165211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9692640" y="1822514"/>
            <a:ext cx="7680960" cy="737806"/>
            <a:chOff x="0" y="0"/>
            <a:chExt cx="10241280" cy="98374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0" cy="983742"/>
            </a:xfrm>
            <a:custGeom>
              <a:avLst/>
              <a:gdLst/>
              <a:ahLst/>
              <a:cxnLst/>
              <a:rect l="l" t="t" r="r" b="b"/>
              <a:pathLst>
                <a:path w="10241280" h="983742">
                  <a:moveTo>
                    <a:pt x="0" y="0"/>
                  </a:moveTo>
                  <a:lnTo>
                    <a:pt x="10241280" y="0"/>
                  </a:lnTo>
                  <a:lnTo>
                    <a:pt x="1024128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849" b="-15284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0241280" cy="1040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RNA Structure Encoding  (5-dim)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84080" y="2779776"/>
            <a:ext cx="7498080" cy="640080"/>
            <a:chOff x="0" y="0"/>
            <a:chExt cx="9997440" cy="8534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095" b="-178093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9784080" y="2744057"/>
            <a:ext cx="7498080" cy="675799"/>
            <a:chOff x="0" y="0"/>
            <a:chExt cx="9997440" cy="90106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97440" cy="901065"/>
            </a:xfrm>
            <a:custGeom>
              <a:avLst/>
              <a:gdLst/>
              <a:ahLst/>
              <a:cxnLst/>
              <a:rect l="l" t="t" r="r" b="b"/>
              <a:pathLst>
                <a:path w="9997440" h="901065">
                  <a:moveTo>
                    <a:pt x="0" y="0"/>
                  </a:moveTo>
                  <a:lnTo>
                    <a:pt x="9997440" y="0"/>
                  </a:lnTo>
                  <a:lnTo>
                    <a:pt x="999744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6189" b="-16618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997440" cy="948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Probabilities sum to 1 per position (RNAplfold):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9771383" y="3553463"/>
            <a:ext cx="3865816" cy="665416"/>
          </a:xfrm>
          <a:custGeom>
            <a:avLst/>
            <a:gdLst/>
            <a:ahLst/>
            <a:cxnLst/>
            <a:rect l="l" t="t" r="r" b="b"/>
            <a:pathLst>
              <a:path w="3865816" h="665416">
                <a:moveTo>
                  <a:pt x="0" y="0"/>
                </a:moveTo>
                <a:lnTo>
                  <a:pt x="3865817" y="0"/>
                </a:lnTo>
                <a:lnTo>
                  <a:pt x="386581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9875520" y="3602736"/>
            <a:ext cx="7315200" cy="566928"/>
            <a:chOff x="0" y="0"/>
            <a:chExt cx="9753600" cy="75590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753600" cy="755904"/>
            </a:xfrm>
            <a:custGeom>
              <a:avLst/>
              <a:gdLst/>
              <a:ahLst/>
              <a:cxnLst/>
              <a:rect l="l" t="t" r="r" b="b"/>
              <a:pathLst>
                <a:path w="9753600" h="755904">
                  <a:moveTo>
                    <a:pt x="0" y="0"/>
                  </a:moveTo>
                  <a:lnTo>
                    <a:pt x="9753600" y="0"/>
                  </a:lnTo>
                  <a:lnTo>
                    <a:pt x="97536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244" b="-201244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9875520" y="3567017"/>
            <a:ext cx="7315200" cy="602647"/>
            <a:chOff x="0" y="0"/>
            <a:chExt cx="9753600" cy="80352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753600" cy="803529"/>
            </a:xfrm>
            <a:custGeom>
              <a:avLst/>
              <a:gdLst/>
              <a:ahLst/>
              <a:cxnLst/>
              <a:rect l="l" t="t" r="r" b="b"/>
              <a:pathLst>
                <a:path w="9753600" h="803529">
                  <a:moveTo>
                    <a:pt x="0" y="0"/>
                  </a:moveTo>
                  <a:lnTo>
                    <a:pt x="9753600" y="0"/>
                  </a:lnTo>
                  <a:lnTo>
                    <a:pt x="9753600" y="803529"/>
                  </a:lnTo>
                  <a:lnTo>
                    <a:pt x="0" y="803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6518" b="-186518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753600" cy="851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Hairpin Loop: 0.60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9771383" y="4339847"/>
            <a:ext cx="985457" cy="665416"/>
          </a:xfrm>
          <a:custGeom>
            <a:avLst/>
            <a:gdLst/>
            <a:ahLst/>
            <a:cxnLst/>
            <a:rect l="l" t="t" r="r" b="b"/>
            <a:pathLst>
              <a:path w="985457" h="665416">
                <a:moveTo>
                  <a:pt x="0" y="0"/>
                </a:moveTo>
                <a:lnTo>
                  <a:pt x="985457" y="0"/>
                </a:lnTo>
                <a:lnTo>
                  <a:pt x="98545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9875520" y="4389120"/>
            <a:ext cx="7315200" cy="566928"/>
            <a:chOff x="0" y="0"/>
            <a:chExt cx="9753600" cy="7559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753600" cy="755904"/>
            </a:xfrm>
            <a:custGeom>
              <a:avLst/>
              <a:gdLst/>
              <a:ahLst/>
              <a:cxnLst/>
              <a:rect l="l" t="t" r="r" b="b"/>
              <a:pathLst>
                <a:path w="9753600" h="755904">
                  <a:moveTo>
                    <a:pt x="0" y="0"/>
                  </a:moveTo>
                  <a:lnTo>
                    <a:pt x="9753600" y="0"/>
                  </a:lnTo>
                  <a:lnTo>
                    <a:pt x="97536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244" b="-201244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9875520" y="4353401"/>
            <a:ext cx="7315200" cy="602647"/>
            <a:chOff x="0" y="0"/>
            <a:chExt cx="9753600" cy="80352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753600" cy="803529"/>
            </a:xfrm>
            <a:custGeom>
              <a:avLst/>
              <a:gdLst/>
              <a:ahLst/>
              <a:cxnLst/>
              <a:rect l="l" t="t" r="r" b="b"/>
              <a:pathLst>
                <a:path w="9753600" h="803529">
                  <a:moveTo>
                    <a:pt x="0" y="0"/>
                  </a:moveTo>
                  <a:lnTo>
                    <a:pt x="9753600" y="0"/>
                  </a:lnTo>
                  <a:lnTo>
                    <a:pt x="9753600" y="803529"/>
                  </a:lnTo>
                  <a:lnTo>
                    <a:pt x="0" y="803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6518" b="-186518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9753600" cy="851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Inner Loop: 0.15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9771383" y="5126231"/>
            <a:ext cx="345377" cy="665416"/>
          </a:xfrm>
          <a:custGeom>
            <a:avLst/>
            <a:gdLst/>
            <a:ahLst/>
            <a:cxnLst/>
            <a:rect l="l" t="t" r="r" b="b"/>
            <a:pathLst>
              <a:path w="345377" h="665416">
                <a:moveTo>
                  <a:pt x="0" y="0"/>
                </a:moveTo>
                <a:lnTo>
                  <a:pt x="345377" y="0"/>
                </a:lnTo>
                <a:lnTo>
                  <a:pt x="34537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9875520" y="5175504"/>
            <a:ext cx="7315200" cy="566928"/>
            <a:chOff x="0" y="0"/>
            <a:chExt cx="9753600" cy="75590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753600" cy="755904"/>
            </a:xfrm>
            <a:custGeom>
              <a:avLst/>
              <a:gdLst/>
              <a:ahLst/>
              <a:cxnLst/>
              <a:rect l="l" t="t" r="r" b="b"/>
              <a:pathLst>
                <a:path w="9753600" h="755904">
                  <a:moveTo>
                    <a:pt x="0" y="0"/>
                  </a:moveTo>
                  <a:lnTo>
                    <a:pt x="9753600" y="0"/>
                  </a:lnTo>
                  <a:lnTo>
                    <a:pt x="97536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244" b="-201244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9875520" y="5139785"/>
            <a:ext cx="7315200" cy="602647"/>
            <a:chOff x="0" y="0"/>
            <a:chExt cx="9753600" cy="8035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753600" cy="803529"/>
            </a:xfrm>
            <a:custGeom>
              <a:avLst/>
              <a:gdLst/>
              <a:ahLst/>
              <a:cxnLst/>
              <a:rect l="l" t="t" r="r" b="b"/>
              <a:pathLst>
                <a:path w="9753600" h="803529">
                  <a:moveTo>
                    <a:pt x="0" y="0"/>
                  </a:moveTo>
                  <a:lnTo>
                    <a:pt x="9753600" y="0"/>
                  </a:lnTo>
                  <a:lnTo>
                    <a:pt x="9753600" y="803529"/>
                  </a:lnTo>
                  <a:lnTo>
                    <a:pt x="0" y="803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6518" b="-186518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9753600" cy="851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 Loop: 0.05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9771383" y="5912615"/>
            <a:ext cx="665416" cy="665416"/>
          </a:xfrm>
          <a:custGeom>
            <a:avLst/>
            <a:gdLst/>
            <a:ahLst/>
            <a:cxnLst/>
            <a:rect l="l" t="t" r="r" b="b"/>
            <a:pathLst>
              <a:path w="665416" h="665416">
                <a:moveTo>
                  <a:pt x="0" y="0"/>
                </a:moveTo>
                <a:lnTo>
                  <a:pt x="665417" y="0"/>
                </a:lnTo>
                <a:lnTo>
                  <a:pt x="66541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9875520" y="5961888"/>
            <a:ext cx="7315200" cy="566928"/>
            <a:chOff x="0" y="0"/>
            <a:chExt cx="9753600" cy="75590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753600" cy="755904"/>
            </a:xfrm>
            <a:custGeom>
              <a:avLst/>
              <a:gdLst/>
              <a:ahLst/>
              <a:cxnLst/>
              <a:rect l="l" t="t" r="r" b="b"/>
              <a:pathLst>
                <a:path w="9753600" h="755904">
                  <a:moveTo>
                    <a:pt x="0" y="0"/>
                  </a:moveTo>
                  <a:lnTo>
                    <a:pt x="9753600" y="0"/>
                  </a:lnTo>
                  <a:lnTo>
                    <a:pt x="97536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244" b="-201244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9875520" y="5926169"/>
            <a:ext cx="7315200" cy="602647"/>
            <a:chOff x="0" y="0"/>
            <a:chExt cx="9753600" cy="80352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753600" cy="803529"/>
            </a:xfrm>
            <a:custGeom>
              <a:avLst/>
              <a:gdLst/>
              <a:ahLst/>
              <a:cxnLst/>
              <a:rect l="l" t="t" r="r" b="b"/>
              <a:pathLst>
                <a:path w="9753600" h="803529">
                  <a:moveTo>
                    <a:pt x="0" y="0"/>
                  </a:moveTo>
                  <a:lnTo>
                    <a:pt x="9753600" y="0"/>
                  </a:lnTo>
                  <a:lnTo>
                    <a:pt x="9753600" y="803529"/>
                  </a:lnTo>
                  <a:lnTo>
                    <a:pt x="0" y="803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6518" b="-186518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9753600" cy="851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External: 0.10</a:t>
              </a:r>
            </a:p>
          </p:txBody>
        </p:sp>
      </p:grpSp>
      <p:sp>
        <p:nvSpPr>
          <p:cNvPr id="61" name="Freeform 61"/>
          <p:cNvSpPr/>
          <p:nvPr/>
        </p:nvSpPr>
        <p:spPr>
          <a:xfrm>
            <a:off x="9771383" y="6698999"/>
            <a:ext cx="665416" cy="665416"/>
          </a:xfrm>
          <a:custGeom>
            <a:avLst/>
            <a:gdLst/>
            <a:ahLst/>
            <a:cxnLst/>
            <a:rect l="l" t="t" r="r" b="b"/>
            <a:pathLst>
              <a:path w="665416" h="665416">
                <a:moveTo>
                  <a:pt x="0" y="0"/>
                </a:moveTo>
                <a:lnTo>
                  <a:pt x="665417" y="0"/>
                </a:lnTo>
                <a:lnTo>
                  <a:pt x="66541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62" name="Group 62"/>
          <p:cNvGrpSpPr/>
          <p:nvPr/>
        </p:nvGrpSpPr>
        <p:grpSpPr>
          <a:xfrm>
            <a:off x="9875520" y="6748272"/>
            <a:ext cx="7315200" cy="566928"/>
            <a:chOff x="0" y="0"/>
            <a:chExt cx="9753600" cy="75590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753600" cy="755904"/>
            </a:xfrm>
            <a:custGeom>
              <a:avLst/>
              <a:gdLst/>
              <a:ahLst/>
              <a:cxnLst/>
              <a:rect l="l" t="t" r="r" b="b"/>
              <a:pathLst>
                <a:path w="9753600" h="755904">
                  <a:moveTo>
                    <a:pt x="0" y="0"/>
                  </a:moveTo>
                  <a:lnTo>
                    <a:pt x="9753600" y="0"/>
                  </a:lnTo>
                  <a:lnTo>
                    <a:pt x="97536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244" b="-201244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9875520" y="6712553"/>
            <a:ext cx="7315200" cy="602647"/>
            <a:chOff x="0" y="0"/>
            <a:chExt cx="9753600" cy="80352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753600" cy="803529"/>
            </a:xfrm>
            <a:custGeom>
              <a:avLst/>
              <a:gdLst/>
              <a:ahLst/>
              <a:cxnLst/>
              <a:rect l="l" t="t" r="r" b="b"/>
              <a:pathLst>
                <a:path w="9753600" h="803529">
                  <a:moveTo>
                    <a:pt x="0" y="0"/>
                  </a:moveTo>
                  <a:lnTo>
                    <a:pt x="9753600" y="0"/>
                  </a:lnTo>
                  <a:lnTo>
                    <a:pt x="9753600" y="803529"/>
                  </a:lnTo>
                  <a:lnTo>
                    <a:pt x="0" y="803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6518" b="-186518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9753600" cy="851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Paired: 0.10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692640" y="7498080"/>
            <a:ext cx="7863840" cy="1645920"/>
            <a:chOff x="0" y="0"/>
            <a:chExt cx="10485120" cy="21945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485120" cy="2194560"/>
            </a:xfrm>
            <a:custGeom>
              <a:avLst/>
              <a:gdLst/>
              <a:ahLst/>
              <a:cxnLst/>
              <a:rect l="l" t="t" r="r" b="b"/>
              <a:pathLst>
                <a:path w="10485120" h="219456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030" b="-43030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9692640" y="7462361"/>
            <a:ext cx="7863840" cy="1681639"/>
            <a:chOff x="0" y="0"/>
            <a:chExt cx="10485120" cy="224218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485120" cy="2242185"/>
            </a:xfrm>
            <a:custGeom>
              <a:avLst/>
              <a:gdLst/>
              <a:ahLst/>
              <a:cxnLst/>
              <a:rect l="l" t="t" r="r" b="b"/>
              <a:pathLst>
                <a:path w="10485120" h="2242185">
                  <a:moveTo>
                    <a:pt x="0" y="0"/>
                  </a:moveTo>
                  <a:lnTo>
                    <a:pt x="10485120" y="0"/>
                  </a:lnTo>
                  <a:lnTo>
                    <a:pt x="10485120" y="2242185"/>
                  </a:lnTo>
                  <a:lnTo>
                    <a:pt x="0" y="22421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117" b="-41117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47625"/>
              <a:ext cx="10485120" cy="2289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input per position: </a:t>
              </a:r>
              <a:r>
                <a:rPr lang="en-US" sz="2200" dirty="0" err="1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concat</a:t>
              </a:r>
              <a:r>
                <a:rPr lang="en-US" sz="22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one-hot[4] + structure[5] ) = 9-dim vector</a:t>
              </a:r>
            </a:p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input shape: </a:t>
              </a:r>
            </a:p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(N, L, 9)  →  Conv1D / </a:t>
              </a:r>
              <a:r>
                <a:rPr lang="en-US" sz="2200" dirty="0" err="1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BiGRU</a:t>
              </a:r>
              <a:r>
                <a:rPr lang="en-US" sz="22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65760"/>
            <a:ext cx="16459200" cy="1097280"/>
            <a:chOff x="0" y="0"/>
            <a:chExt cx="2194560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72891"/>
            <a:ext cx="16459200" cy="1190149"/>
            <a:chOff x="0" y="0"/>
            <a:chExt cx="21945600" cy="1586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586865"/>
            </a:xfrm>
            <a:custGeom>
              <a:avLst/>
              <a:gdLst/>
              <a:ahLst/>
              <a:cxnLst/>
              <a:rect l="l" t="t" r="r" b="b"/>
              <a:pathLst>
                <a:path w="21945600" h="1586865">
                  <a:moveTo>
                    <a:pt x="0" y="0"/>
                  </a:moveTo>
                  <a:lnTo>
                    <a:pt x="21945600" y="0"/>
                  </a:lnTo>
                  <a:lnTo>
                    <a:pt x="2194560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9468" b="-21946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10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CNN Architecture — DLPRB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14400" y="1390745"/>
            <a:ext cx="16459200" cy="675799"/>
            <a:chOff x="0" y="0"/>
            <a:chExt cx="21945600" cy="9010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901065"/>
            </a:xfrm>
            <a:custGeom>
              <a:avLst/>
              <a:gdLst/>
              <a:ahLst/>
              <a:cxnLst/>
              <a:rect l="l" t="t" r="r" b="b"/>
              <a:pathLst>
                <a:path w="21945600" h="901065">
                  <a:moveTo>
                    <a:pt x="0" y="0"/>
                  </a:moveTo>
                  <a:lnTo>
                    <a:pt x="21945600" y="0"/>
                  </a:lnTo>
                  <a:lnTo>
                    <a:pt x="2194560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4561" b="-42456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194560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</a:pPr>
              <a:r>
                <a:rPr lang="en-US" sz="2799" i="1">
                  <a:solidFill>
                    <a:srgbClr val="1B8FC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Convolutional Neural Network for in vitro Binding Prediction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248917" y="2260597"/>
            <a:ext cx="2794064" cy="2428304"/>
          </a:xfrm>
          <a:custGeom>
            <a:avLst/>
            <a:gdLst/>
            <a:ahLst/>
            <a:cxnLst/>
            <a:rect l="l" t="t" r="r" b="b"/>
            <a:pathLst>
              <a:path w="2794064" h="2428304">
                <a:moveTo>
                  <a:pt x="0" y="0"/>
                </a:moveTo>
                <a:lnTo>
                  <a:pt x="2794063" y="0"/>
                </a:lnTo>
                <a:lnTo>
                  <a:pt x="279406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65760" y="2377440"/>
            <a:ext cx="2560320" cy="640080"/>
            <a:chOff x="0" y="0"/>
            <a:chExt cx="3413760" cy="853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13760" cy="853440"/>
            </a:xfrm>
            <a:custGeom>
              <a:avLst/>
              <a:gdLst/>
              <a:ahLst/>
              <a:cxnLst/>
              <a:rect l="l" t="t" r="r" b="b"/>
              <a:pathLst>
                <a:path w="3413760" h="85344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85" b="-2788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65760" y="2348865"/>
            <a:ext cx="2560320" cy="668655"/>
            <a:chOff x="0" y="0"/>
            <a:chExt cx="3413760" cy="8915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13760" cy="891540"/>
            </a:xfrm>
            <a:custGeom>
              <a:avLst/>
              <a:gdLst/>
              <a:ahLst/>
              <a:cxnLst/>
              <a:rect l="l" t="t" r="r" b="b"/>
              <a:pathLst>
                <a:path w="3413760" h="891540">
                  <a:moveTo>
                    <a:pt x="0" y="0"/>
                  </a:moveTo>
                  <a:lnTo>
                    <a:pt x="3413760" y="0"/>
                  </a:lnTo>
                  <a:lnTo>
                    <a:pt x="341376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609" b="-2460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41376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5760" y="3054096"/>
            <a:ext cx="2560320" cy="1463040"/>
            <a:chOff x="0" y="0"/>
            <a:chExt cx="3413760" cy="19507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13760" cy="1950720"/>
            </a:xfrm>
            <a:custGeom>
              <a:avLst/>
              <a:gdLst/>
              <a:ahLst/>
              <a:cxnLst/>
              <a:rect l="l" t="t" r="r" b="b"/>
              <a:pathLst>
                <a:path w="3413760" h="1950720">
                  <a:moveTo>
                    <a:pt x="0" y="0"/>
                  </a:moveTo>
                  <a:lnTo>
                    <a:pt x="3413760" y="0"/>
                  </a:lnTo>
                  <a:lnTo>
                    <a:pt x="3413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67" r="-2336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365760" y="3025521"/>
            <a:ext cx="2560320" cy="1491615"/>
            <a:chOff x="0" y="0"/>
            <a:chExt cx="3413760" cy="19888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13760" cy="1988820"/>
            </a:xfrm>
            <a:custGeom>
              <a:avLst/>
              <a:gdLst/>
              <a:ahLst/>
              <a:cxnLst/>
              <a:rect l="l" t="t" r="r" b="b"/>
              <a:pathLst>
                <a:path w="3413760" h="1988820">
                  <a:moveTo>
                    <a:pt x="0" y="0"/>
                  </a:moveTo>
                  <a:lnTo>
                    <a:pt x="3413760" y="0"/>
                  </a:lnTo>
                  <a:lnTo>
                    <a:pt x="341376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748" r="-2474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413760" cy="2026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(N, L, 9)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RNA seq + struct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76902" y="3364230"/>
            <a:ext cx="365760" cy="38100"/>
            <a:chOff x="0" y="0"/>
            <a:chExt cx="487680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3723637" y="2260597"/>
            <a:ext cx="3708464" cy="2428304"/>
          </a:xfrm>
          <a:custGeom>
            <a:avLst/>
            <a:gdLst/>
            <a:ahLst/>
            <a:cxnLst/>
            <a:rect l="l" t="t" r="r" b="b"/>
            <a:pathLst>
              <a:path w="3708464" h="2428304">
                <a:moveTo>
                  <a:pt x="0" y="0"/>
                </a:moveTo>
                <a:lnTo>
                  <a:pt x="3708463" y="0"/>
                </a:lnTo>
                <a:lnTo>
                  <a:pt x="370846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3840480" y="2377440"/>
            <a:ext cx="3474720" cy="640080"/>
            <a:chOff x="0" y="0"/>
            <a:chExt cx="4632960" cy="853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32960" cy="853440"/>
            </a:xfrm>
            <a:custGeom>
              <a:avLst/>
              <a:gdLst/>
              <a:ahLst/>
              <a:cxnLst/>
              <a:rect l="l" t="t" r="r" b="b"/>
              <a:pathLst>
                <a:path w="4632960" h="85344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702" b="-55702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3840480" y="2348865"/>
            <a:ext cx="3474720" cy="668655"/>
            <a:chOff x="0" y="0"/>
            <a:chExt cx="4632960" cy="8915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32960" cy="891540"/>
            </a:xfrm>
            <a:custGeom>
              <a:avLst/>
              <a:gdLst/>
              <a:ahLst/>
              <a:cxnLst/>
              <a:rect l="l" t="t" r="r" b="b"/>
              <a:pathLst>
                <a:path w="4632960" h="891540">
                  <a:moveTo>
                    <a:pt x="0" y="0"/>
                  </a:moveTo>
                  <a:lnTo>
                    <a:pt x="4632960" y="0"/>
                  </a:lnTo>
                  <a:lnTo>
                    <a:pt x="463296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255" b="-5125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63296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Conv1D ×2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840480" y="3054096"/>
            <a:ext cx="3474720" cy="1463040"/>
            <a:chOff x="0" y="0"/>
            <a:chExt cx="4632960" cy="19507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632960" cy="1950720"/>
            </a:xfrm>
            <a:custGeom>
              <a:avLst/>
              <a:gdLst/>
              <a:ahLst/>
              <a:cxnLst/>
              <a:rect l="l" t="t" r="r" b="b"/>
              <a:pathLst>
                <a:path w="4632960" h="1950720">
                  <a:moveTo>
                    <a:pt x="0" y="0"/>
                  </a:moveTo>
                  <a:lnTo>
                    <a:pt x="4632960" y="0"/>
                  </a:lnTo>
                  <a:lnTo>
                    <a:pt x="4632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60" r="-4060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3840480" y="3025521"/>
            <a:ext cx="3474720" cy="1491615"/>
            <a:chOff x="0" y="0"/>
            <a:chExt cx="4632960" cy="19888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32960" cy="1988820"/>
            </a:xfrm>
            <a:custGeom>
              <a:avLst/>
              <a:gdLst/>
              <a:ahLst/>
              <a:cxnLst/>
              <a:rect l="l" t="t" r="r" b="b"/>
              <a:pathLst>
                <a:path w="4632960" h="1988820">
                  <a:moveTo>
                    <a:pt x="0" y="0"/>
                  </a:moveTo>
                  <a:lnTo>
                    <a:pt x="4632960" y="0"/>
                  </a:lnTo>
                  <a:lnTo>
                    <a:pt x="463296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077" r="-507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632960" cy="2026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128 filters @ len-5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128 filters @ len-11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 err="1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ReLU</a:t>
              </a: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activation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L2 regularization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06640" y="3364230"/>
            <a:ext cx="365760" cy="38100"/>
            <a:chOff x="0" y="0"/>
            <a:chExt cx="487680" cy="50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8" name="Freeform 38"/>
          <p:cNvSpPr/>
          <p:nvPr/>
        </p:nvSpPr>
        <p:spPr>
          <a:xfrm>
            <a:off x="7929877" y="2260597"/>
            <a:ext cx="3159824" cy="2428304"/>
          </a:xfrm>
          <a:custGeom>
            <a:avLst/>
            <a:gdLst/>
            <a:ahLst/>
            <a:cxnLst/>
            <a:rect l="l" t="t" r="r" b="b"/>
            <a:pathLst>
              <a:path w="3159824" h="2428304">
                <a:moveTo>
                  <a:pt x="0" y="0"/>
                </a:moveTo>
                <a:lnTo>
                  <a:pt x="3159823" y="0"/>
                </a:lnTo>
                <a:lnTo>
                  <a:pt x="315982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8046720" y="2377440"/>
            <a:ext cx="2926080" cy="640080"/>
            <a:chOff x="0" y="0"/>
            <a:chExt cx="3901440" cy="853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01440" cy="853440"/>
            </a:xfrm>
            <a:custGeom>
              <a:avLst/>
              <a:gdLst/>
              <a:ahLst/>
              <a:cxnLst/>
              <a:rect l="l" t="t" r="r" b="b"/>
              <a:pathLst>
                <a:path w="3901440" h="853440">
                  <a:moveTo>
                    <a:pt x="0" y="0"/>
                  </a:moveTo>
                  <a:lnTo>
                    <a:pt x="3901440" y="0"/>
                  </a:lnTo>
                  <a:lnTo>
                    <a:pt x="3901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11" b="-39013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8046720" y="2348865"/>
            <a:ext cx="2926080" cy="668655"/>
            <a:chOff x="0" y="0"/>
            <a:chExt cx="3901440" cy="8915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01440" cy="891540"/>
            </a:xfrm>
            <a:custGeom>
              <a:avLst/>
              <a:gdLst/>
              <a:ahLst/>
              <a:cxnLst/>
              <a:rect l="l" t="t" r="r" b="b"/>
              <a:pathLst>
                <a:path w="3901440" h="891540">
                  <a:moveTo>
                    <a:pt x="0" y="0"/>
                  </a:moveTo>
                  <a:lnTo>
                    <a:pt x="3901440" y="0"/>
                  </a:lnTo>
                  <a:lnTo>
                    <a:pt x="390144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267" b="-3526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90144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GlobalMaxPool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46720" y="3054096"/>
            <a:ext cx="2926080" cy="1463040"/>
            <a:chOff x="0" y="0"/>
            <a:chExt cx="3901440" cy="1950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901440" cy="1950720"/>
            </a:xfrm>
            <a:custGeom>
              <a:avLst/>
              <a:gdLst/>
              <a:ahLst/>
              <a:cxnLst/>
              <a:rect l="l" t="t" r="r" b="b"/>
              <a:pathLst>
                <a:path w="3901440" h="195072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96" r="-14196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8046720" y="3025521"/>
            <a:ext cx="2926080" cy="1491615"/>
            <a:chOff x="0" y="0"/>
            <a:chExt cx="3901440" cy="19888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901440" cy="1988820"/>
            </a:xfrm>
            <a:custGeom>
              <a:avLst/>
              <a:gdLst/>
              <a:ahLst/>
              <a:cxnLst/>
              <a:rect l="l" t="t" r="r" b="b"/>
              <a:pathLst>
                <a:path w="3901440" h="1988820">
                  <a:moveTo>
                    <a:pt x="0" y="0"/>
                  </a:moveTo>
                  <a:lnTo>
                    <a:pt x="3901440" y="0"/>
                  </a:lnTo>
                  <a:lnTo>
                    <a:pt x="390144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404" r="-1540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3901440" cy="2026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per filter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</a:t>
              </a:r>
              <a:r>
                <a:rPr lang="en-US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128</a:t>
              </a: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values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064240" y="3364230"/>
            <a:ext cx="365760" cy="38100"/>
            <a:chOff x="0" y="0"/>
            <a:chExt cx="487680" cy="50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1" name="Freeform 51"/>
          <p:cNvSpPr/>
          <p:nvPr/>
        </p:nvSpPr>
        <p:spPr>
          <a:xfrm>
            <a:off x="11496037" y="2260597"/>
            <a:ext cx="2611184" cy="2428304"/>
          </a:xfrm>
          <a:custGeom>
            <a:avLst/>
            <a:gdLst/>
            <a:ahLst/>
            <a:cxnLst/>
            <a:rect l="l" t="t" r="r" b="b"/>
            <a:pathLst>
              <a:path w="2611184" h="2428304">
                <a:moveTo>
                  <a:pt x="0" y="0"/>
                </a:moveTo>
                <a:lnTo>
                  <a:pt x="2611183" y="0"/>
                </a:lnTo>
                <a:lnTo>
                  <a:pt x="261118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11612880" y="2377440"/>
            <a:ext cx="2377440" cy="640080"/>
            <a:chOff x="0" y="0"/>
            <a:chExt cx="3169920" cy="85344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169920" cy="853440"/>
            </a:xfrm>
            <a:custGeom>
              <a:avLst/>
              <a:gdLst/>
              <a:ahLst/>
              <a:cxnLst/>
              <a:rect l="l" t="t" r="r" b="b"/>
              <a:pathLst>
                <a:path w="3169920" h="853440">
                  <a:moveTo>
                    <a:pt x="0" y="0"/>
                  </a:moveTo>
                  <a:lnTo>
                    <a:pt x="3169920" y="0"/>
                  </a:lnTo>
                  <a:lnTo>
                    <a:pt x="3169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22" b="-22322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1612880" y="2348865"/>
            <a:ext cx="2377440" cy="668655"/>
            <a:chOff x="0" y="0"/>
            <a:chExt cx="3169920" cy="8915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69920" cy="891540"/>
            </a:xfrm>
            <a:custGeom>
              <a:avLst/>
              <a:gdLst/>
              <a:ahLst/>
              <a:cxnLst/>
              <a:rect l="l" t="t" r="r" b="b"/>
              <a:pathLst>
                <a:path w="3169920" h="891540">
                  <a:moveTo>
                    <a:pt x="0" y="0"/>
                  </a:moveTo>
                  <a:lnTo>
                    <a:pt x="3169920" y="0"/>
                  </a:lnTo>
                  <a:lnTo>
                    <a:pt x="316992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280" b="-1928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316992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Concat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612880" y="3054096"/>
            <a:ext cx="2377440" cy="1463040"/>
            <a:chOff x="0" y="0"/>
            <a:chExt cx="3169920" cy="19507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169920" cy="1950720"/>
            </a:xfrm>
            <a:custGeom>
              <a:avLst/>
              <a:gdLst/>
              <a:ahLst/>
              <a:cxnLst/>
              <a:rect l="l" t="t" r="r" b="b"/>
              <a:pathLst>
                <a:path w="3169920" h="1950720">
                  <a:moveTo>
                    <a:pt x="0" y="0"/>
                  </a:moveTo>
                  <a:lnTo>
                    <a:pt x="3169920" y="0"/>
                  </a:lnTo>
                  <a:lnTo>
                    <a:pt x="3169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10" r="-29011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1612880" y="3025521"/>
            <a:ext cx="2377440" cy="1491615"/>
            <a:chOff x="0" y="0"/>
            <a:chExt cx="3169920" cy="19888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69920" cy="1988820"/>
            </a:xfrm>
            <a:custGeom>
              <a:avLst/>
              <a:gdLst/>
              <a:ahLst/>
              <a:cxnLst/>
              <a:rect l="l" t="t" r="r" b="b"/>
              <a:pathLst>
                <a:path w="3169920" h="1988820">
                  <a:moveTo>
                    <a:pt x="0" y="0"/>
                  </a:moveTo>
                  <a:lnTo>
                    <a:pt x="3169920" y="0"/>
                  </a:lnTo>
                  <a:lnTo>
                    <a:pt x="316992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498" r="-30498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3169920" cy="2026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Merge outputs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both filter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sizes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dim 256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081760" y="3364230"/>
            <a:ext cx="365760" cy="38100"/>
            <a:chOff x="0" y="0"/>
            <a:chExt cx="487680" cy="50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4" name="Freeform 64"/>
          <p:cNvSpPr/>
          <p:nvPr/>
        </p:nvSpPr>
        <p:spPr>
          <a:xfrm>
            <a:off x="14513557" y="2260597"/>
            <a:ext cx="2794063" cy="2428304"/>
          </a:xfrm>
          <a:custGeom>
            <a:avLst/>
            <a:gdLst/>
            <a:ahLst/>
            <a:cxnLst/>
            <a:rect l="l" t="t" r="r" b="b"/>
            <a:pathLst>
              <a:path w="2794063" h="2428304">
                <a:moveTo>
                  <a:pt x="0" y="0"/>
                </a:moveTo>
                <a:lnTo>
                  <a:pt x="2794063" y="0"/>
                </a:lnTo>
                <a:lnTo>
                  <a:pt x="279406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5" name="Group 65"/>
          <p:cNvGrpSpPr/>
          <p:nvPr/>
        </p:nvGrpSpPr>
        <p:grpSpPr>
          <a:xfrm>
            <a:off x="14630400" y="2377440"/>
            <a:ext cx="2560320" cy="640080"/>
            <a:chOff x="0" y="0"/>
            <a:chExt cx="3413760" cy="8534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413760" cy="853440"/>
            </a:xfrm>
            <a:custGeom>
              <a:avLst/>
              <a:gdLst/>
              <a:ahLst/>
              <a:cxnLst/>
              <a:rect l="l" t="t" r="r" b="b"/>
              <a:pathLst>
                <a:path w="3413760" h="85344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85" b="-27886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4630400" y="2348865"/>
            <a:ext cx="2560320" cy="668655"/>
            <a:chOff x="0" y="0"/>
            <a:chExt cx="3413760" cy="8915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413760" cy="891540"/>
            </a:xfrm>
            <a:custGeom>
              <a:avLst/>
              <a:gdLst/>
              <a:ahLst/>
              <a:cxnLst/>
              <a:rect l="l" t="t" r="r" b="b"/>
              <a:pathLst>
                <a:path w="3413760" h="891540">
                  <a:moveTo>
                    <a:pt x="0" y="0"/>
                  </a:moveTo>
                  <a:lnTo>
                    <a:pt x="3413760" y="0"/>
                  </a:lnTo>
                  <a:lnTo>
                    <a:pt x="341376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609" b="-24609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3413760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Dense(128)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630400" y="3054096"/>
            <a:ext cx="2560320" cy="1463040"/>
            <a:chOff x="0" y="0"/>
            <a:chExt cx="3413760" cy="19507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413760" cy="1950720"/>
            </a:xfrm>
            <a:custGeom>
              <a:avLst/>
              <a:gdLst/>
              <a:ahLst/>
              <a:cxnLst/>
              <a:rect l="l" t="t" r="r" b="b"/>
              <a:pathLst>
                <a:path w="3413760" h="1950720">
                  <a:moveTo>
                    <a:pt x="0" y="0"/>
                  </a:moveTo>
                  <a:lnTo>
                    <a:pt x="3413760" y="0"/>
                  </a:lnTo>
                  <a:lnTo>
                    <a:pt x="3413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67" r="-23367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14630400" y="3025521"/>
            <a:ext cx="2560320" cy="1491615"/>
            <a:chOff x="0" y="0"/>
            <a:chExt cx="3413760" cy="19888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413760" cy="1988820"/>
            </a:xfrm>
            <a:custGeom>
              <a:avLst/>
              <a:gdLst/>
              <a:ahLst/>
              <a:cxnLst/>
              <a:rect l="l" t="t" r="r" b="b"/>
              <a:pathLst>
                <a:path w="3413760" h="1988820">
                  <a:moveTo>
                    <a:pt x="0" y="0"/>
                  </a:moveTo>
                  <a:lnTo>
                    <a:pt x="3413760" y="0"/>
                  </a:lnTo>
                  <a:lnTo>
                    <a:pt x="341376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748" r="-24748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3413760" cy="2026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FC hidden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 err="1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ReLU</a:t>
              </a:r>
              <a:endParaRPr lang="en-US" sz="1800" dirty="0">
                <a:solidFill>
                  <a:srgbClr val="D0E8F5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Dropout 0.3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L2 reg</a:t>
              </a:r>
            </a:p>
          </p:txBody>
        </p:sp>
      </p:grpSp>
      <p:sp>
        <p:nvSpPr>
          <p:cNvPr id="75" name="Freeform 75"/>
          <p:cNvSpPr/>
          <p:nvPr/>
        </p:nvSpPr>
        <p:spPr>
          <a:xfrm>
            <a:off x="13649954" y="5098409"/>
            <a:ext cx="3708368" cy="1056703"/>
          </a:xfrm>
          <a:custGeom>
            <a:avLst/>
            <a:gdLst/>
            <a:ahLst/>
            <a:cxnLst/>
            <a:rect l="l" t="t" r="r" b="b"/>
            <a:pathLst>
              <a:path w="3708368" h="1056703">
                <a:moveTo>
                  <a:pt x="0" y="0"/>
                </a:moveTo>
                <a:lnTo>
                  <a:pt x="3708368" y="0"/>
                </a:lnTo>
                <a:lnTo>
                  <a:pt x="3708368" y="1056703"/>
                </a:lnTo>
                <a:lnTo>
                  <a:pt x="0" y="1056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76" name="Group 76"/>
          <p:cNvGrpSpPr/>
          <p:nvPr/>
        </p:nvGrpSpPr>
        <p:grpSpPr>
          <a:xfrm>
            <a:off x="13649954" y="5215252"/>
            <a:ext cx="3657600" cy="822960"/>
            <a:chOff x="0" y="0"/>
            <a:chExt cx="4876800" cy="10972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876800" cy="1097280"/>
            </a:xfrm>
            <a:custGeom>
              <a:avLst/>
              <a:gdLst/>
              <a:ahLst/>
              <a:cxnLst/>
              <a:rect l="l" t="t" r="r" b="b"/>
              <a:pathLst>
                <a:path w="4876800" h="109728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40" b="-36539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3649954" y="5186677"/>
            <a:ext cx="3657600" cy="851535"/>
            <a:chOff x="0" y="0"/>
            <a:chExt cx="4876800" cy="113538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876800" cy="1135380"/>
            </a:xfrm>
            <a:custGeom>
              <a:avLst/>
              <a:gdLst/>
              <a:ahLst/>
              <a:cxnLst/>
              <a:rect l="l" t="t" r="r" b="b"/>
              <a:pathLst>
                <a:path w="4876800" h="1135380">
                  <a:moveTo>
                    <a:pt x="0" y="0"/>
                  </a:moveTo>
                  <a:lnTo>
                    <a:pt x="4876800" y="0"/>
                  </a:lnTo>
                  <a:lnTo>
                    <a:pt x="487680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694" b="-33694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487680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Dense(1) → Binding Intensity Score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872460" y="4574286"/>
            <a:ext cx="38100" cy="640080"/>
            <a:chOff x="0" y="0"/>
            <a:chExt cx="50800" cy="85344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0800" cy="853440"/>
            </a:xfrm>
            <a:custGeom>
              <a:avLst/>
              <a:gdLst/>
              <a:ahLst/>
              <a:cxnLst/>
              <a:rect l="l" t="t" r="r" b="b"/>
              <a:pathLst>
                <a:path w="50800" h="853440">
                  <a:moveTo>
                    <a:pt x="50800" y="0"/>
                  </a:moveTo>
                  <a:lnTo>
                    <a:pt x="5080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3" name="Freeform 83"/>
          <p:cNvSpPr/>
          <p:nvPr/>
        </p:nvSpPr>
        <p:spPr>
          <a:xfrm>
            <a:off x="255270" y="6564630"/>
            <a:ext cx="17411700" cy="3238500"/>
          </a:xfrm>
          <a:custGeom>
            <a:avLst/>
            <a:gdLst/>
            <a:ahLst/>
            <a:cxnLst/>
            <a:rect l="l" t="t" r="r" b="b"/>
            <a:pathLst>
              <a:path w="17411700" h="3238500">
                <a:moveTo>
                  <a:pt x="0" y="0"/>
                </a:moveTo>
                <a:lnTo>
                  <a:pt x="17411700" y="0"/>
                </a:lnTo>
                <a:lnTo>
                  <a:pt x="174117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84" name="Group 84"/>
          <p:cNvGrpSpPr/>
          <p:nvPr/>
        </p:nvGrpSpPr>
        <p:grpSpPr>
          <a:xfrm>
            <a:off x="548640" y="6675120"/>
            <a:ext cx="16824960" cy="640080"/>
            <a:chOff x="0" y="0"/>
            <a:chExt cx="22433280" cy="85344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2433280" cy="853440"/>
            </a:xfrm>
            <a:custGeom>
              <a:avLst/>
              <a:gdLst/>
              <a:ahLst/>
              <a:cxnLst/>
              <a:rect l="l" t="t" r="r" b="b"/>
              <a:pathLst>
                <a:path w="22433280" h="85344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821" b="-461822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548640" y="6632257"/>
            <a:ext cx="16824960" cy="682943"/>
            <a:chOff x="0" y="0"/>
            <a:chExt cx="22433280" cy="91059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2433280" cy="910590"/>
            </a:xfrm>
            <a:custGeom>
              <a:avLst/>
              <a:gdLst/>
              <a:ahLst/>
              <a:cxnLst/>
              <a:rect l="l" t="t" r="r" b="b"/>
              <a:pathLst>
                <a:path w="22433280" h="910590">
                  <a:moveTo>
                    <a:pt x="0" y="0"/>
                  </a:moveTo>
                  <a:lnTo>
                    <a:pt x="22433280" y="0"/>
                  </a:lnTo>
                  <a:lnTo>
                    <a:pt x="2243328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0033" b="-430033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57150"/>
              <a:ext cx="2243328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Hyperparameters (from paper + grid search)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48640" y="7443216"/>
            <a:ext cx="3931920" cy="877824"/>
            <a:chOff x="0" y="0"/>
            <a:chExt cx="5242560" cy="117043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548640" y="7407497"/>
            <a:ext cx="3931920" cy="913543"/>
            <a:chOff x="0" y="0"/>
            <a:chExt cx="5242560" cy="1218057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Filters: 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256 total (128@len-5 + 128@len-11)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663440" y="7443216"/>
            <a:ext cx="3931920" cy="877824"/>
            <a:chOff x="0" y="0"/>
            <a:chExt cx="5242560" cy="117043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4663440" y="7407497"/>
            <a:ext cx="3931920" cy="913543"/>
            <a:chOff x="0" y="0"/>
            <a:chExt cx="5242560" cy="1218057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Optimizer: 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Adam  |  LR = 0.0001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778240" y="7443216"/>
            <a:ext cx="3931920" cy="877824"/>
            <a:chOff x="0" y="0"/>
            <a:chExt cx="5242560" cy="117043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8778240" y="7407497"/>
            <a:ext cx="3931920" cy="913543"/>
            <a:chOff x="0" y="0"/>
            <a:chExt cx="5242560" cy="1218057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Loss: 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Squared Error (MSE)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3167360" y="7443216"/>
            <a:ext cx="3931920" cy="877824"/>
            <a:chOff x="0" y="0"/>
            <a:chExt cx="5242560" cy="1170432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106" name="Group 106"/>
          <p:cNvGrpSpPr/>
          <p:nvPr/>
        </p:nvGrpSpPr>
        <p:grpSpPr>
          <a:xfrm>
            <a:off x="13167360" y="7407497"/>
            <a:ext cx="3931920" cy="913543"/>
            <a:chOff x="0" y="0"/>
            <a:chExt cx="5242560" cy="1218057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Batch Size: </a:t>
              </a:r>
              <a:r>
                <a:rPr lang="en-US" sz="220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128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548640" y="8394192"/>
            <a:ext cx="3931920" cy="877824"/>
            <a:chOff x="0" y="0"/>
            <a:chExt cx="5242560" cy="1170432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111" name="Group 111"/>
          <p:cNvGrpSpPr/>
          <p:nvPr/>
        </p:nvGrpSpPr>
        <p:grpSpPr>
          <a:xfrm>
            <a:off x="548640" y="8358473"/>
            <a:ext cx="3931920" cy="913543"/>
            <a:chOff x="0" y="0"/>
            <a:chExt cx="5242560" cy="1218057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Regularization: 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L2 weight decay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4663440" y="8394192"/>
            <a:ext cx="3931920" cy="877824"/>
            <a:chOff x="0" y="0"/>
            <a:chExt cx="5242560" cy="1170432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116" name="Group 116"/>
          <p:cNvGrpSpPr/>
          <p:nvPr/>
        </p:nvGrpSpPr>
        <p:grpSpPr>
          <a:xfrm>
            <a:off x="4663440" y="8358473"/>
            <a:ext cx="3931920" cy="913543"/>
            <a:chOff x="0" y="0"/>
            <a:chExt cx="5242560" cy="1218057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Stopping: 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stopping on </a:t>
              </a:r>
              <a:r>
                <a:rPr lang="en-US" sz="2200" dirty="0" err="1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Pearson r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8778240" y="8394192"/>
            <a:ext cx="3931920" cy="877824"/>
            <a:chOff x="0" y="0"/>
            <a:chExt cx="5242560" cy="1170432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8778240" y="8358473"/>
            <a:ext cx="3931920" cy="913543"/>
            <a:chOff x="0" y="0"/>
            <a:chExt cx="5242560" cy="1218057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Epochs: 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 to 60, 3-fold CV for tuning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3167360" y="8394192"/>
            <a:ext cx="3931920" cy="877824"/>
            <a:chOff x="0" y="0"/>
            <a:chExt cx="5242560" cy="1170432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5242560" cy="1170432"/>
            </a:xfrm>
            <a:custGeom>
              <a:avLst/>
              <a:gdLst/>
              <a:ahLst/>
              <a:cxnLst/>
              <a:rect l="l" t="t" r="r" b="b"/>
              <a:pathLst>
                <a:path w="5242560" h="1170432">
                  <a:moveTo>
                    <a:pt x="0" y="0"/>
                  </a:moveTo>
                  <a:lnTo>
                    <a:pt x="5242560" y="0"/>
                  </a:lnTo>
                  <a:lnTo>
                    <a:pt x="524256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5" b="-37216"/>
              </a:stretch>
            </a:blipFill>
          </p:spPr>
        </p:sp>
      </p:grpSp>
      <p:grpSp>
        <p:nvGrpSpPr>
          <p:cNvPr id="126" name="Group 126"/>
          <p:cNvGrpSpPr/>
          <p:nvPr/>
        </p:nvGrpSpPr>
        <p:grpSpPr>
          <a:xfrm>
            <a:off x="13167360" y="8358473"/>
            <a:ext cx="3931920" cy="913543"/>
            <a:chOff x="0" y="0"/>
            <a:chExt cx="5242560" cy="1218057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242560" cy="1218057"/>
            </a:xfrm>
            <a:custGeom>
              <a:avLst/>
              <a:gdLst/>
              <a:ahLst/>
              <a:cxnLst/>
              <a:rect l="l" t="t" r="r" b="b"/>
              <a:pathLst>
                <a:path w="5242560" h="1218057">
                  <a:moveTo>
                    <a:pt x="0" y="0"/>
                  </a:moveTo>
                  <a:lnTo>
                    <a:pt x="5242560" y="0"/>
                  </a:lnTo>
                  <a:lnTo>
                    <a:pt x="524256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864" b="-33864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-47625"/>
              <a:ext cx="524256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Dropout: 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0.3 on FC layer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9090" y="433626"/>
            <a:ext cx="16459200" cy="1210196"/>
            <a:chOff x="0" y="0"/>
            <a:chExt cx="21945600" cy="1613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613595"/>
            </a:xfrm>
            <a:custGeom>
              <a:avLst/>
              <a:gdLst/>
              <a:ahLst/>
              <a:cxnLst/>
              <a:rect l="l" t="t" r="r" b="b"/>
              <a:pathLst>
                <a:path w="21945600" h="1613595">
                  <a:moveTo>
                    <a:pt x="0" y="0"/>
                  </a:moveTo>
                  <a:lnTo>
                    <a:pt x="21945600" y="0"/>
                  </a:lnTo>
                  <a:lnTo>
                    <a:pt x="21945600" y="1613595"/>
                  </a:lnTo>
                  <a:lnTo>
                    <a:pt x="0" y="16135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833" b="-21417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1945600" cy="1737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CNN Architecture — PARAMETRS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374431" y="2006523"/>
            <a:ext cx="9534161" cy="8142529"/>
          </a:xfrm>
          <a:custGeom>
            <a:avLst/>
            <a:gdLst/>
            <a:ahLst/>
            <a:cxnLst/>
            <a:rect l="l" t="t" r="r" b="b"/>
            <a:pathLst>
              <a:path w="9534161" h="8142529">
                <a:moveTo>
                  <a:pt x="0" y="0"/>
                </a:moveTo>
                <a:lnTo>
                  <a:pt x="9534161" y="0"/>
                </a:lnTo>
                <a:lnTo>
                  <a:pt x="9534161" y="8142529"/>
                </a:lnTo>
                <a:lnTo>
                  <a:pt x="0" y="8142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18911" y="2006523"/>
            <a:ext cx="7570176" cy="8142529"/>
          </a:xfrm>
          <a:custGeom>
            <a:avLst/>
            <a:gdLst/>
            <a:ahLst/>
            <a:cxnLst/>
            <a:rect l="l" t="t" r="r" b="b"/>
            <a:pathLst>
              <a:path w="7570176" h="8142529">
                <a:moveTo>
                  <a:pt x="0" y="0"/>
                </a:moveTo>
                <a:lnTo>
                  <a:pt x="7570176" y="0"/>
                </a:lnTo>
                <a:lnTo>
                  <a:pt x="7570176" y="8142529"/>
                </a:lnTo>
                <a:lnTo>
                  <a:pt x="0" y="814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97280"/>
            <a:chOff x="0" y="0"/>
            <a:chExt cx="2194560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64331"/>
            <a:ext cx="16459200" cy="1190149"/>
            <a:chOff x="0" y="0"/>
            <a:chExt cx="21945600" cy="1586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586865"/>
            </a:xfrm>
            <a:custGeom>
              <a:avLst/>
              <a:gdLst/>
              <a:ahLst/>
              <a:cxnLst/>
              <a:rect l="l" t="t" r="r" b="b"/>
              <a:pathLst>
                <a:path w="21945600" h="1586865">
                  <a:moveTo>
                    <a:pt x="0" y="0"/>
                  </a:moveTo>
                  <a:lnTo>
                    <a:pt x="21945600" y="0"/>
                  </a:lnTo>
                  <a:lnTo>
                    <a:pt x="2194560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9468" b="-21946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10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CNN Results — in vitro Binding Prediction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06117" y="1803397"/>
            <a:ext cx="4074224" cy="2428304"/>
          </a:xfrm>
          <a:custGeom>
            <a:avLst/>
            <a:gdLst/>
            <a:ahLst/>
            <a:cxnLst/>
            <a:rect l="l" t="t" r="r" b="b"/>
            <a:pathLst>
              <a:path w="4074224" h="2428304">
                <a:moveTo>
                  <a:pt x="0" y="0"/>
                </a:moveTo>
                <a:lnTo>
                  <a:pt x="4074223" y="0"/>
                </a:lnTo>
                <a:lnTo>
                  <a:pt x="407422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31520" y="1920240"/>
            <a:ext cx="4023360" cy="1188720"/>
            <a:chOff x="0" y="0"/>
            <a:chExt cx="5364480" cy="15849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64480" cy="1584960"/>
            </a:xfrm>
            <a:custGeom>
              <a:avLst/>
              <a:gdLst/>
              <a:ahLst/>
              <a:cxnLst/>
              <a:rect l="l" t="t" r="r" b="b"/>
              <a:pathLst>
                <a:path w="5364480" h="158496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3" b="-1590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31520" y="1820227"/>
            <a:ext cx="4023360" cy="1288732"/>
            <a:chOff x="0" y="0"/>
            <a:chExt cx="5364480" cy="1718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64480" cy="1718310"/>
            </a:xfrm>
            <a:custGeom>
              <a:avLst/>
              <a:gdLst/>
              <a:ahLst/>
              <a:cxnLst/>
              <a:rect l="l" t="t" r="r" b="b"/>
              <a:pathLst>
                <a:path w="5364480" h="1718310">
                  <a:moveTo>
                    <a:pt x="0" y="0"/>
                  </a:moveTo>
                  <a:lnTo>
                    <a:pt x="5364480" y="0"/>
                  </a:lnTo>
                  <a:lnTo>
                    <a:pt x="5364480" y="1718310"/>
                  </a:lnTo>
                  <a:lnTo>
                    <a:pt x="0" y="17183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31" b="-1083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33350"/>
              <a:ext cx="5364480" cy="1851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8"/>
                </a:lnSpc>
              </a:pPr>
              <a:r>
                <a:rPr lang="en-US" sz="6800" b="1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0.682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8507" y="3017510"/>
            <a:ext cx="3840480" cy="1005840"/>
            <a:chOff x="0" y="0"/>
            <a:chExt cx="5120640" cy="13411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45" b="-2434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778507" y="2981792"/>
            <a:ext cx="3840480" cy="1041559"/>
            <a:chOff x="0" y="0"/>
            <a:chExt cx="5120640" cy="13887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20640" cy="1388745"/>
            </a:xfrm>
            <a:custGeom>
              <a:avLst/>
              <a:gdLst/>
              <a:ahLst/>
              <a:cxnLst/>
              <a:rect l="l" t="t" r="r" b="b"/>
              <a:pathLst>
                <a:path w="5120640" h="1388745">
                  <a:moveTo>
                    <a:pt x="0" y="0"/>
                  </a:moveTo>
                  <a:lnTo>
                    <a:pt x="5120640" y="0"/>
                  </a:lnTo>
                  <a:lnTo>
                    <a:pt x="512064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846" b="-2184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5120640" cy="1436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Pearson r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(CNN seq+struct)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5095237" y="1803397"/>
            <a:ext cx="4074224" cy="2428304"/>
          </a:xfrm>
          <a:custGeom>
            <a:avLst/>
            <a:gdLst/>
            <a:ahLst/>
            <a:cxnLst/>
            <a:rect l="l" t="t" r="r" b="b"/>
            <a:pathLst>
              <a:path w="4074224" h="2428304">
                <a:moveTo>
                  <a:pt x="0" y="0"/>
                </a:moveTo>
                <a:lnTo>
                  <a:pt x="4074223" y="0"/>
                </a:lnTo>
                <a:lnTo>
                  <a:pt x="407422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120640" y="1920240"/>
            <a:ext cx="4023360" cy="1188720"/>
            <a:chOff x="0" y="0"/>
            <a:chExt cx="5364480" cy="15849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64480" cy="1584960"/>
            </a:xfrm>
            <a:custGeom>
              <a:avLst/>
              <a:gdLst/>
              <a:ahLst/>
              <a:cxnLst/>
              <a:rect l="l" t="t" r="r" b="b"/>
              <a:pathLst>
                <a:path w="5364480" h="158496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3" b="-15903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5120640" y="1820227"/>
            <a:ext cx="4023360" cy="1288732"/>
            <a:chOff x="0" y="0"/>
            <a:chExt cx="5364480" cy="17183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64480" cy="1718310"/>
            </a:xfrm>
            <a:custGeom>
              <a:avLst/>
              <a:gdLst/>
              <a:ahLst/>
              <a:cxnLst/>
              <a:rect l="l" t="t" r="r" b="b"/>
              <a:pathLst>
                <a:path w="5364480" h="1718310">
                  <a:moveTo>
                    <a:pt x="0" y="0"/>
                  </a:moveTo>
                  <a:lnTo>
                    <a:pt x="5364480" y="0"/>
                  </a:lnTo>
                  <a:lnTo>
                    <a:pt x="5364480" y="1718310"/>
                  </a:lnTo>
                  <a:lnTo>
                    <a:pt x="0" y="17183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31" b="-1083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33350"/>
              <a:ext cx="5364480" cy="1851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8"/>
                </a:lnSpc>
              </a:pPr>
              <a:r>
                <a:rPr lang="en-US" sz="6800" b="1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0.830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12080" y="3017510"/>
            <a:ext cx="3840480" cy="1060714"/>
            <a:chOff x="0" y="0"/>
            <a:chExt cx="5120640" cy="14142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20640" cy="1414272"/>
            </a:xfrm>
            <a:custGeom>
              <a:avLst/>
              <a:gdLst/>
              <a:ahLst/>
              <a:cxnLst/>
              <a:rect l="l" t="t" r="r" b="b"/>
              <a:pathLst>
                <a:path w="5120640" h="1414272">
                  <a:moveTo>
                    <a:pt x="0" y="0"/>
                  </a:moveTo>
                  <a:lnTo>
                    <a:pt x="5120640" y="0"/>
                  </a:lnTo>
                  <a:lnTo>
                    <a:pt x="512064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00" b="-20500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5212080" y="2981792"/>
            <a:ext cx="3840480" cy="1096432"/>
            <a:chOff x="0" y="0"/>
            <a:chExt cx="5120640" cy="146191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20640" cy="1461904"/>
            </a:xfrm>
            <a:custGeom>
              <a:avLst/>
              <a:gdLst/>
              <a:ahLst/>
              <a:cxnLst/>
              <a:rect l="l" t="t" r="r" b="b"/>
              <a:pathLst>
                <a:path w="5120640" h="1461904">
                  <a:moveTo>
                    <a:pt x="0" y="0"/>
                  </a:moveTo>
                  <a:lnTo>
                    <a:pt x="5120640" y="0"/>
                  </a:lnTo>
                  <a:lnTo>
                    <a:pt x="5120640" y="1461904"/>
                  </a:lnTo>
                  <a:lnTo>
                    <a:pt x="0" y="1461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250" b="-1825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5120640" cy="15095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Protein (HuR)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Pearson r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9483719" y="4073976"/>
            <a:ext cx="264519" cy="157658"/>
          </a:xfrm>
          <a:custGeom>
            <a:avLst/>
            <a:gdLst/>
            <a:ahLst/>
            <a:cxnLst/>
            <a:rect l="l" t="t" r="r" b="b"/>
            <a:pathLst>
              <a:path w="264519" h="157658">
                <a:moveTo>
                  <a:pt x="0" y="0"/>
                </a:moveTo>
                <a:lnTo>
                  <a:pt x="264518" y="0"/>
                </a:lnTo>
                <a:lnTo>
                  <a:pt x="264518" y="157658"/>
                </a:lnTo>
                <a:lnTo>
                  <a:pt x="0" y="157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531344" y="1803397"/>
            <a:ext cx="4074223" cy="2428304"/>
          </a:xfrm>
          <a:custGeom>
            <a:avLst/>
            <a:gdLst/>
            <a:ahLst/>
            <a:cxnLst/>
            <a:rect l="l" t="t" r="r" b="b"/>
            <a:pathLst>
              <a:path w="4074223" h="2428304">
                <a:moveTo>
                  <a:pt x="0" y="0"/>
                </a:moveTo>
                <a:lnTo>
                  <a:pt x="4074223" y="0"/>
                </a:lnTo>
                <a:lnTo>
                  <a:pt x="4074223" y="2428303"/>
                </a:lnTo>
                <a:lnTo>
                  <a:pt x="0" y="242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9531344" y="1828790"/>
            <a:ext cx="4023360" cy="1188720"/>
            <a:chOff x="0" y="0"/>
            <a:chExt cx="5364480" cy="15849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364480" cy="1584960"/>
            </a:xfrm>
            <a:custGeom>
              <a:avLst/>
              <a:gdLst/>
              <a:ahLst/>
              <a:cxnLst/>
              <a:rect l="l" t="t" r="r" b="b"/>
              <a:pathLst>
                <a:path w="5364480" h="1584960">
                  <a:moveTo>
                    <a:pt x="0" y="0"/>
                  </a:moveTo>
                  <a:lnTo>
                    <a:pt x="5364480" y="0"/>
                  </a:lnTo>
                  <a:lnTo>
                    <a:pt x="5364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03" b="-15903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9531344" y="1728778"/>
            <a:ext cx="4023360" cy="1288732"/>
            <a:chOff x="0" y="0"/>
            <a:chExt cx="5364480" cy="17183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64480" cy="1718310"/>
            </a:xfrm>
            <a:custGeom>
              <a:avLst/>
              <a:gdLst/>
              <a:ahLst/>
              <a:cxnLst/>
              <a:rect l="l" t="t" r="r" b="b"/>
              <a:pathLst>
                <a:path w="5364480" h="1718310">
                  <a:moveTo>
                    <a:pt x="0" y="0"/>
                  </a:moveTo>
                  <a:lnTo>
                    <a:pt x="5364480" y="0"/>
                  </a:lnTo>
                  <a:lnTo>
                    <a:pt x="5364480" y="1718310"/>
                  </a:lnTo>
                  <a:lnTo>
                    <a:pt x="0" y="17183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831" b="-1083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33350"/>
              <a:ext cx="5364480" cy="1851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8"/>
                </a:lnSpc>
              </a:pPr>
              <a:r>
                <a:rPr lang="en-US" sz="68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0.683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26594" y="3017510"/>
            <a:ext cx="3840480" cy="1005840"/>
            <a:chOff x="0" y="0"/>
            <a:chExt cx="5120640" cy="13411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45" b="-24345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9626594" y="2981792"/>
            <a:ext cx="3840480" cy="1041559"/>
            <a:chOff x="0" y="0"/>
            <a:chExt cx="5120640" cy="138874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120640" cy="1388745"/>
            </a:xfrm>
            <a:custGeom>
              <a:avLst/>
              <a:gdLst/>
              <a:ahLst/>
              <a:cxnLst/>
              <a:rect l="l" t="t" r="r" b="b"/>
              <a:pathLst>
                <a:path w="5120640" h="1388745">
                  <a:moveTo>
                    <a:pt x="0" y="0"/>
                  </a:moveTo>
                  <a:lnTo>
                    <a:pt x="5120640" y="0"/>
                  </a:lnTo>
                  <a:lnTo>
                    <a:pt x="512064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846" b="-2184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5120640" cy="1436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 Pearson r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(RNN seq+struct)</a:t>
              </a:r>
            </a:p>
          </p:txBody>
        </p:sp>
      </p:grpSp>
      <p:graphicFrame>
        <p:nvGraphicFramePr>
          <p:cNvPr id="41" name="Table 41"/>
          <p:cNvGraphicFramePr>
            <a:graphicFrameLocks noGrp="1"/>
          </p:cNvGraphicFramePr>
          <p:nvPr/>
        </p:nvGraphicFramePr>
        <p:xfrm>
          <a:off x="568960" y="3802665"/>
          <a:ext cx="16967200" cy="6740527"/>
        </p:xfrm>
        <a:graphic>
          <a:graphicData uri="http://schemas.openxmlformats.org/drawingml/2006/table">
            <a:tbl>
              <a:tblPr/>
              <a:tblGrid>
                <a:gridCol w="4638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4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4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777"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Protein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CNN (seq+struct)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RNN (seq+struct)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Fusip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0.7089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0.7210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HuR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8FC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0.8301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7C3AE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0.8458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PTB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0.5780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0.5943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RBM4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8FC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0.8089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7C3AE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0.8325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SF2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0.7382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0.7402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SLM2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0.7131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0.7415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U1A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0.6910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0.6939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VTS1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0.6361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0.5487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YB1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0.4379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F1B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0.4301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01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F1B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MEAN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F1B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0.6825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F1B2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0.6831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97280"/>
            <a:chOff x="0" y="0"/>
            <a:chExt cx="2194560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71475"/>
            <a:ext cx="16459200" cy="1183005"/>
            <a:chOff x="0" y="0"/>
            <a:chExt cx="21945600" cy="15773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577340"/>
            </a:xfrm>
            <a:custGeom>
              <a:avLst/>
              <a:gdLst/>
              <a:ahLst/>
              <a:cxnLst/>
              <a:rect l="l" t="t" r="r" b="b"/>
              <a:pathLst>
                <a:path w="21945600" h="1577340">
                  <a:moveTo>
                    <a:pt x="0" y="0"/>
                  </a:moveTo>
                  <a:lnTo>
                    <a:pt x="21945600" y="0"/>
                  </a:lnTo>
                  <a:lnTo>
                    <a:pt x="21945600" y="1577340"/>
                  </a:lnTo>
                  <a:lnTo>
                    <a:pt x="0" y="1577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1096" b="-22109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33350"/>
              <a:ext cx="21945600" cy="1710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Comparison — CNN vs Prior Methods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27660" y="8420100"/>
            <a:ext cx="17045940" cy="1866900"/>
          </a:xfrm>
          <a:custGeom>
            <a:avLst/>
            <a:gdLst/>
            <a:ahLst/>
            <a:cxnLst/>
            <a:rect l="l" t="t" r="r" b="b"/>
            <a:pathLst>
              <a:path w="17045940" h="1866900">
                <a:moveTo>
                  <a:pt x="0" y="0"/>
                </a:moveTo>
                <a:lnTo>
                  <a:pt x="17045940" y="0"/>
                </a:lnTo>
                <a:lnTo>
                  <a:pt x="1704594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14400" y="8481060"/>
            <a:ext cx="16459200" cy="1554480"/>
            <a:chOff x="0" y="0"/>
            <a:chExt cx="21945600" cy="2072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2072640"/>
            </a:xfrm>
            <a:custGeom>
              <a:avLst/>
              <a:gdLst/>
              <a:ahLst/>
              <a:cxnLst/>
              <a:rect l="l" t="t" r="r" b="b"/>
              <a:pathLst>
                <a:path w="21945600" h="207264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168" b="-15616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8452485"/>
            <a:ext cx="16459200" cy="1583055"/>
            <a:chOff x="0" y="0"/>
            <a:chExt cx="21945600" cy="21107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2110740"/>
            </a:xfrm>
            <a:custGeom>
              <a:avLst/>
              <a:gdLst/>
              <a:ahLst/>
              <a:cxnLst/>
              <a:rect l="l" t="t" r="r" b="b"/>
              <a:pathLst>
                <a:path w="21945600" h="2110740">
                  <a:moveTo>
                    <a:pt x="0" y="0"/>
                  </a:moveTo>
                  <a:lnTo>
                    <a:pt x="21945600" y="0"/>
                  </a:lnTo>
                  <a:lnTo>
                    <a:pt x="2194560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588" b="-15258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945600" cy="2148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dirty="0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Findings:  </a:t>
              </a:r>
              <a:r>
                <a:rPr lang="en-US" sz="24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CNN achieves avg Pearson r = 0.682 vs RCK = 0.46 and </a:t>
              </a:r>
              <a:r>
                <a:rPr lang="en-US" sz="2400" dirty="0" err="1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DeepBind</a:t>
              </a:r>
              <a:r>
                <a:rPr lang="en-US" sz="24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= 0.41 on in vitro data.  Improvement is </a:t>
              </a:r>
              <a:r>
                <a:rPr lang="en-US" sz="2400" dirty="0" err="1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significant.Our</a:t>
              </a:r>
              <a:r>
                <a:rPr lang="en-US" sz="24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CNN also tops in vivo prediction with median AUC = 0.657 vs </a:t>
              </a:r>
              <a:r>
                <a:rPr lang="en-US" sz="2400" dirty="0" err="1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DeepBind</a:t>
              </a:r>
              <a:r>
                <a:rPr lang="en-US" sz="24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= 0.648.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82012" y="2062329"/>
            <a:ext cx="8723976" cy="6074073"/>
            <a:chOff x="0" y="0"/>
            <a:chExt cx="11631968" cy="80987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631930" cy="8098790"/>
            </a:xfrm>
            <a:custGeom>
              <a:avLst/>
              <a:gdLst/>
              <a:ahLst/>
              <a:cxnLst/>
              <a:rect l="l" t="t" r="r" b="b"/>
              <a:pathLst>
                <a:path w="11631930" h="8098790">
                  <a:moveTo>
                    <a:pt x="0" y="0"/>
                  </a:moveTo>
                  <a:lnTo>
                    <a:pt x="11631930" y="0"/>
                  </a:lnTo>
                  <a:lnTo>
                    <a:pt x="11631930" y="8098790"/>
                  </a:lnTo>
                  <a:lnTo>
                    <a:pt x="0" y="8098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4" b="-3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65760"/>
            <a:ext cx="16459200" cy="1097280"/>
            <a:chOff x="0" y="0"/>
            <a:chExt cx="2194560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72891"/>
            <a:ext cx="16459200" cy="1190149"/>
            <a:chOff x="0" y="0"/>
            <a:chExt cx="21945600" cy="1586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586865"/>
            </a:xfrm>
            <a:custGeom>
              <a:avLst/>
              <a:gdLst/>
              <a:ahLst/>
              <a:cxnLst/>
              <a:rect l="l" t="t" r="r" b="b"/>
              <a:pathLst>
                <a:path w="21945600" h="1586865">
                  <a:moveTo>
                    <a:pt x="0" y="0"/>
                  </a:moveTo>
                  <a:lnTo>
                    <a:pt x="21945600" y="0"/>
                  </a:lnTo>
                  <a:lnTo>
                    <a:pt x="2194560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9468" b="-21946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10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RNN Architecture — Bidirectional GRU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1426464"/>
            <a:ext cx="16459200" cy="640080"/>
            <a:chOff x="0" y="0"/>
            <a:chExt cx="21945600" cy="8534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694" b="-45069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14400" y="1390745"/>
            <a:ext cx="16459200" cy="675799"/>
            <a:chOff x="0" y="0"/>
            <a:chExt cx="21945600" cy="9010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901065"/>
            </a:xfrm>
            <a:custGeom>
              <a:avLst/>
              <a:gdLst/>
              <a:ahLst/>
              <a:cxnLst/>
              <a:rect l="l" t="t" r="r" b="b"/>
              <a:pathLst>
                <a:path w="21945600" h="901065">
                  <a:moveTo>
                    <a:pt x="0" y="0"/>
                  </a:moveTo>
                  <a:lnTo>
                    <a:pt x="21945600" y="0"/>
                  </a:lnTo>
                  <a:lnTo>
                    <a:pt x="2194560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4561" b="-42456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1945600" cy="967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8"/>
                </a:lnSpc>
              </a:pPr>
              <a:r>
                <a:rPr lang="en-US" sz="2799" i="1">
                  <a:solidFill>
                    <a:srgbClr val="7C3AE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Recurrent Neural Network for capturing sequential dependencies in RNA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340357" y="2352037"/>
            <a:ext cx="2794064" cy="2245424"/>
          </a:xfrm>
          <a:custGeom>
            <a:avLst/>
            <a:gdLst/>
            <a:ahLst/>
            <a:cxnLst/>
            <a:rect l="l" t="t" r="r" b="b"/>
            <a:pathLst>
              <a:path w="2794064" h="2245424">
                <a:moveTo>
                  <a:pt x="0" y="0"/>
                </a:moveTo>
                <a:lnTo>
                  <a:pt x="2794063" y="0"/>
                </a:lnTo>
                <a:lnTo>
                  <a:pt x="2794063" y="2245423"/>
                </a:lnTo>
                <a:lnTo>
                  <a:pt x="0" y="2245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57200" y="2468880"/>
            <a:ext cx="2560320" cy="694944"/>
            <a:chOff x="0" y="0"/>
            <a:chExt cx="3413760" cy="9265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13760" cy="926592"/>
            </a:xfrm>
            <a:custGeom>
              <a:avLst/>
              <a:gdLst/>
              <a:ahLst/>
              <a:cxnLst/>
              <a:rect l="l" t="t" r="r" b="b"/>
              <a:pathLst>
                <a:path w="3413760" h="926592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736" b="-21737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57200" y="2433161"/>
            <a:ext cx="2560320" cy="730663"/>
            <a:chOff x="0" y="0"/>
            <a:chExt cx="3413760" cy="9742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13760" cy="974217"/>
            </a:xfrm>
            <a:custGeom>
              <a:avLst/>
              <a:gdLst/>
              <a:ahLst/>
              <a:cxnLst/>
              <a:rect l="l" t="t" r="r" b="b"/>
              <a:pathLst>
                <a:path w="3413760" h="974217">
                  <a:moveTo>
                    <a:pt x="0" y="0"/>
                  </a:moveTo>
                  <a:lnTo>
                    <a:pt x="3413760" y="0"/>
                  </a:lnTo>
                  <a:lnTo>
                    <a:pt x="341376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277" b="-1827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413760" cy="1021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3218688"/>
            <a:ext cx="2560320" cy="1188720"/>
            <a:chOff x="0" y="0"/>
            <a:chExt cx="3413760" cy="15849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13760" cy="1584960"/>
            </a:xfrm>
            <a:custGeom>
              <a:avLst/>
              <a:gdLst/>
              <a:ahLst/>
              <a:cxnLst/>
              <a:rect l="l" t="t" r="r" b="b"/>
              <a:pathLst>
                <a:path w="3413760" h="15849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10" r="-9611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457200" y="3190113"/>
            <a:ext cx="2560320" cy="1217295"/>
            <a:chOff x="0" y="0"/>
            <a:chExt cx="3413760" cy="16230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13760" cy="1623060"/>
            </a:xfrm>
            <a:custGeom>
              <a:avLst/>
              <a:gdLst/>
              <a:ahLst/>
              <a:cxnLst/>
              <a:rect l="l" t="t" r="r" b="b"/>
              <a:pathLst>
                <a:path w="3413760" h="1623060">
                  <a:moveTo>
                    <a:pt x="0" y="0"/>
                  </a:moveTo>
                  <a:lnTo>
                    <a:pt x="3413760" y="0"/>
                  </a:lnTo>
                  <a:lnTo>
                    <a:pt x="341376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01" r="-1100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41376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(N, L, 9)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per-position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vectors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08960" y="3364230"/>
            <a:ext cx="365760" cy="38100"/>
            <a:chOff x="0" y="0"/>
            <a:chExt cx="487680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3815077" y="2352037"/>
            <a:ext cx="3891343" cy="2245424"/>
          </a:xfrm>
          <a:custGeom>
            <a:avLst/>
            <a:gdLst/>
            <a:ahLst/>
            <a:cxnLst/>
            <a:rect l="l" t="t" r="r" b="b"/>
            <a:pathLst>
              <a:path w="3891343" h="2245424">
                <a:moveTo>
                  <a:pt x="0" y="0"/>
                </a:moveTo>
                <a:lnTo>
                  <a:pt x="3891343" y="0"/>
                </a:lnTo>
                <a:lnTo>
                  <a:pt x="3891343" y="2245423"/>
                </a:lnTo>
                <a:lnTo>
                  <a:pt x="0" y="2245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3931920" y="2468880"/>
            <a:ext cx="3657600" cy="694944"/>
            <a:chOff x="0" y="0"/>
            <a:chExt cx="487680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2" b="-52480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3931920" y="2433161"/>
            <a:ext cx="3657600" cy="730663"/>
            <a:chOff x="0" y="0"/>
            <a:chExt cx="4876800" cy="97421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76800" cy="974217"/>
            </a:xfrm>
            <a:custGeom>
              <a:avLst/>
              <a:gdLst/>
              <a:ahLst/>
              <a:cxnLst/>
              <a:rect l="l" t="t" r="r" b="b"/>
              <a:pathLst>
                <a:path w="4876800" h="974217">
                  <a:moveTo>
                    <a:pt x="0" y="0"/>
                  </a:moveTo>
                  <a:lnTo>
                    <a:pt x="4876800" y="0"/>
                  </a:lnTo>
                  <a:lnTo>
                    <a:pt x="48768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539" b="-4753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876800" cy="1021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Forward GRU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931920" y="3218688"/>
            <a:ext cx="3657600" cy="1188720"/>
            <a:chOff x="0" y="0"/>
            <a:chExt cx="4876800" cy="15849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76800" cy="1584960"/>
            </a:xfrm>
            <a:custGeom>
              <a:avLst/>
              <a:gdLst/>
              <a:ahLst/>
              <a:cxnLst/>
              <a:rect l="l" t="t" r="r" b="b"/>
              <a:pathLst>
                <a:path w="4876800" h="158496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12" b="-9911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3797492" y="3161538"/>
            <a:ext cx="3792028" cy="1245870"/>
            <a:chOff x="-179237" y="-38100"/>
            <a:chExt cx="5056037" cy="1661160"/>
          </a:xfrm>
        </p:grpSpPr>
        <p:sp>
          <p:nvSpPr>
            <p:cNvPr id="34" name="Freeform 34"/>
            <p:cNvSpPr/>
            <p:nvPr/>
          </p:nvSpPr>
          <p:spPr>
            <a:xfrm>
              <a:off x="-179237" y="-37084"/>
              <a:ext cx="4876800" cy="1623060"/>
            </a:xfrm>
            <a:custGeom>
              <a:avLst/>
              <a:gdLst/>
              <a:ahLst/>
              <a:cxnLst/>
              <a:rect l="l" t="t" r="r" b="b"/>
              <a:pathLst>
                <a:path w="4876800" h="162306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46" b="-854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 units=64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Captures past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80960" y="3364230"/>
            <a:ext cx="365760" cy="38100"/>
            <a:chOff x="0" y="0"/>
            <a:chExt cx="487680" cy="50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8" name="Freeform 38"/>
          <p:cNvSpPr/>
          <p:nvPr/>
        </p:nvSpPr>
        <p:spPr>
          <a:xfrm>
            <a:off x="8204197" y="2352037"/>
            <a:ext cx="3891343" cy="2245424"/>
          </a:xfrm>
          <a:custGeom>
            <a:avLst/>
            <a:gdLst/>
            <a:ahLst/>
            <a:cxnLst/>
            <a:rect l="l" t="t" r="r" b="b"/>
            <a:pathLst>
              <a:path w="3891343" h="2245424">
                <a:moveTo>
                  <a:pt x="0" y="0"/>
                </a:moveTo>
                <a:lnTo>
                  <a:pt x="3891343" y="0"/>
                </a:lnTo>
                <a:lnTo>
                  <a:pt x="3891343" y="2245423"/>
                </a:lnTo>
                <a:lnTo>
                  <a:pt x="0" y="2245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8321040" y="2468880"/>
            <a:ext cx="3657600" cy="694944"/>
            <a:chOff x="0" y="0"/>
            <a:chExt cx="4876800" cy="92659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2" b="-52480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8321040" y="2433161"/>
            <a:ext cx="3657600" cy="730663"/>
            <a:chOff x="0" y="0"/>
            <a:chExt cx="4876800" cy="97421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876800" cy="974217"/>
            </a:xfrm>
            <a:custGeom>
              <a:avLst/>
              <a:gdLst/>
              <a:ahLst/>
              <a:cxnLst/>
              <a:rect l="l" t="t" r="r" b="b"/>
              <a:pathLst>
                <a:path w="4876800" h="974217">
                  <a:moveTo>
                    <a:pt x="0" y="0"/>
                  </a:moveTo>
                  <a:lnTo>
                    <a:pt x="4876800" y="0"/>
                  </a:lnTo>
                  <a:lnTo>
                    <a:pt x="48768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539" b="-4753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4876800" cy="1021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 Backward GRU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321040" y="3218688"/>
            <a:ext cx="3657600" cy="1188720"/>
            <a:chOff x="0" y="0"/>
            <a:chExt cx="4876800" cy="15849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76800" cy="1584960"/>
            </a:xfrm>
            <a:custGeom>
              <a:avLst/>
              <a:gdLst/>
              <a:ahLst/>
              <a:cxnLst/>
              <a:rect l="l" t="t" r="r" b="b"/>
              <a:pathLst>
                <a:path w="4876800" h="158496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12" b="-9911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8321040" y="3190113"/>
            <a:ext cx="3657600" cy="1217295"/>
            <a:chOff x="0" y="0"/>
            <a:chExt cx="4876800" cy="16230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876800" cy="1623060"/>
            </a:xfrm>
            <a:custGeom>
              <a:avLst/>
              <a:gdLst/>
              <a:ahLst/>
              <a:cxnLst/>
              <a:rect l="l" t="t" r="r" b="b"/>
              <a:pathLst>
                <a:path w="4876800" h="162306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46" b="-854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 units=64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Captures future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070080" y="3364230"/>
            <a:ext cx="365760" cy="38100"/>
            <a:chOff x="0" y="0"/>
            <a:chExt cx="487680" cy="50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1" name="Freeform 51"/>
          <p:cNvSpPr/>
          <p:nvPr/>
        </p:nvSpPr>
        <p:spPr>
          <a:xfrm>
            <a:off x="12593317" y="2352037"/>
            <a:ext cx="2976943" cy="2245424"/>
          </a:xfrm>
          <a:custGeom>
            <a:avLst/>
            <a:gdLst/>
            <a:ahLst/>
            <a:cxnLst/>
            <a:rect l="l" t="t" r="r" b="b"/>
            <a:pathLst>
              <a:path w="2976943" h="2245424">
                <a:moveTo>
                  <a:pt x="0" y="0"/>
                </a:moveTo>
                <a:lnTo>
                  <a:pt x="2976943" y="0"/>
                </a:lnTo>
                <a:lnTo>
                  <a:pt x="2976943" y="2245423"/>
                </a:lnTo>
                <a:lnTo>
                  <a:pt x="0" y="2245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12710160" y="2468880"/>
            <a:ext cx="2743200" cy="694944"/>
            <a:chOff x="0" y="0"/>
            <a:chExt cx="3657600" cy="9265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657600" cy="926592"/>
            </a:xfrm>
            <a:custGeom>
              <a:avLst/>
              <a:gdLst/>
              <a:ahLst/>
              <a:cxnLst/>
              <a:rect l="l" t="t" r="r" b="b"/>
              <a:pathLst>
                <a:path w="3657600" h="926592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61" b="-26861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2710160" y="2433161"/>
            <a:ext cx="2743200" cy="730663"/>
            <a:chOff x="0" y="0"/>
            <a:chExt cx="3657600" cy="97421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657600" cy="974217"/>
            </a:xfrm>
            <a:custGeom>
              <a:avLst/>
              <a:gdLst/>
              <a:ahLst/>
              <a:cxnLst/>
              <a:rect l="l" t="t" r="r" b="b"/>
              <a:pathLst>
                <a:path w="3657600" h="974217">
                  <a:moveTo>
                    <a:pt x="0" y="0"/>
                  </a:moveTo>
                  <a:lnTo>
                    <a:pt x="3657600" y="0"/>
                  </a:lnTo>
                  <a:lnTo>
                    <a:pt x="36576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54" b="-2315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3657600" cy="1021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Concat → 128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710160" y="3218688"/>
            <a:ext cx="2743200" cy="1188720"/>
            <a:chOff x="0" y="0"/>
            <a:chExt cx="3657600" cy="15849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657600" cy="1584960"/>
            </a:xfrm>
            <a:custGeom>
              <a:avLst/>
              <a:gdLst/>
              <a:ahLst/>
              <a:cxnLst/>
              <a:rect l="l" t="t" r="r" b="b"/>
              <a:pathLst>
                <a:path w="3657600" h="1584960">
                  <a:moveTo>
                    <a:pt x="0" y="0"/>
                  </a:moveTo>
                  <a:lnTo>
                    <a:pt x="3657600" y="0"/>
                  </a:lnTo>
                  <a:lnTo>
                    <a:pt x="3657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36" r="-5637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12710160" y="3190113"/>
            <a:ext cx="2743200" cy="1217295"/>
            <a:chOff x="0" y="0"/>
            <a:chExt cx="3657600" cy="16230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657600" cy="1623060"/>
            </a:xfrm>
            <a:custGeom>
              <a:avLst/>
              <a:gdLst/>
              <a:ahLst/>
              <a:cxnLst/>
              <a:rect l="l" t="t" r="r" b="b"/>
              <a:pathLst>
                <a:path w="3657600" h="1623060">
                  <a:moveTo>
                    <a:pt x="0" y="0"/>
                  </a:moveTo>
                  <a:lnTo>
                    <a:pt x="3657600" y="0"/>
                  </a:lnTo>
                  <a:lnTo>
                    <a:pt x="36576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934" r="-693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365760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 err="1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BiGRU</a:t>
              </a: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output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dirty="0" err="1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Fwd</a:t>
              </a: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+ </a:t>
              </a:r>
              <a:r>
                <a:rPr lang="en-US" sz="1800" dirty="0" err="1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Bwd</a:t>
              </a:r>
              <a:endParaRPr lang="en-US" sz="1800" dirty="0">
                <a:solidFill>
                  <a:srgbClr val="D0C8F5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concatenated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5544800" y="3364230"/>
            <a:ext cx="365760" cy="38100"/>
            <a:chOff x="0" y="0"/>
            <a:chExt cx="487680" cy="50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7680" cy="50800"/>
            </a:xfrm>
            <a:custGeom>
              <a:avLst/>
              <a:gdLst/>
              <a:ahLst/>
              <a:cxnLst/>
              <a:rect l="l" t="t" r="r" b="b"/>
              <a:pathLst>
                <a:path w="487680" h="5080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4" name="Freeform 64"/>
          <p:cNvSpPr/>
          <p:nvPr/>
        </p:nvSpPr>
        <p:spPr>
          <a:xfrm>
            <a:off x="15976597" y="2352037"/>
            <a:ext cx="1696784" cy="2245424"/>
          </a:xfrm>
          <a:custGeom>
            <a:avLst/>
            <a:gdLst/>
            <a:ahLst/>
            <a:cxnLst/>
            <a:rect l="l" t="t" r="r" b="b"/>
            <a:pathLst>
              <a:path w="1696784" h="2245424">
                <a:moveTo>
                  <a:pt x="0" y="0"/>
                </a:moveTo>
                <a:lnTo>
                  <a:pt x="1696783" y="0"/>
                </a:lnTo>
                <a:lnTo>
                  <a:pt x="1696783" y="2245423"/>
                </a:lnTo>
                <a:lnTo>
                  <a:pt x="0" y="2245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65" name="Group 65"/>
          <p:cNvGrpSpPr/>
          <p:nvPr/>
        </p:nvGrpSpPr>
        <p:grpSpPr>
          <a:xfrm>
            <a:off x="16093440" y="2468880"/>
            <a:ext cx="1463040" cy="694944"/>
            <a:chOff x="0" y="0"/>
            <a:chExt cx="1950720" cy="92659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950720" cy="926592"/>
            </a:xfrm>
            <a:custGeom>
              <a:avLst/>
              <a:gdLst/>
              <a:ahLst/>
              <a:cxnLst/>
              <a:rect l="l" t="t" r="r" b="b"/>
              <a:pathLst>
                <a:path w="1950720" h="926592">
                  <a:moveTo>
                    <a:pt x="0" y="0"/>
                  </a:moveTo>
                  <a:lnTo>
                    <a:pt x="1950720" y="0"/>
                  </a:lnTo>
                  <a:lnTo>
                    <a:pt x="1950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86" r="-10986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6093440" y="2433161"/>
            <a:ext cx="1463040" cy="730663"/>
            <a:chOff x="0" y="0"/>
            <a:chExt cx="1950720" cy="97421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950720" cy="974217"/>
            </a:xfrm>
            <a:custGeom>
              <a:avLst/>
              <a:gdLst/>
              <a:ahLst/>
              <a:cxnLst/>
              <a:rect l="l" t="t" r="r" b="b"/>
              <a:pathLst>
                <a:path w="1950720" h="974217">
                  <a:moveTo>
                    <a:pt x="0" y="0"/>
                  </a:moveTo>
                  <a:lnTo>
                    <a:pt x="1950720" y="0"/>
                  </a:lnTo>
                  <a:lnTo>
                    <a:pt x="195072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076" r="-14076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1950720" cy="1021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Dense(128)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093440" y="3218688"/>
            <a:ext cx="1463040" cy="1188720"/>
            <a:chOff x="0" y="0"/>
            <a:chExt cx="1950720" cy="158496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950720" cy="1584960"/>
            </a:xfrm>
            <a:custGeom>
              <a:avLst/>
              <a:gdLst/>
              <a:ahLst/>
              <a:cxnLst/>
              <a:rect l="l" t="t" r="r" b="b"/>
              <a:pathLst>
                <a:path w="1950720" h="1584960">
                  <a:moveTo>
                    <a:pt x="0" y="0"/>
                  </a:moveTo>
                  <a:lnTo>
                    <a:pt x="1950720" y="0"/>
                  </a:lnTo>
                  <a:lnTo>
                    <a:pt x="1950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319" r="-54319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16093440" y="3190113"/>
            <a:ext cx="1463040" cy="1217295"/>
            <a:chOff x="0" y="0"/>
            <a:chExt cx="1950720" cy="162306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950720" cy="1623060"/>
            </a:xfrm>
            <a:custGeom>
              <a:avLst/>
              <a:gdLst/>
              <a:ahLst/>
              <a:cxnLst/>
              <a:rect l="l" t="t" r="r" b="b"/>
              <a:pathLst>
                <a:path w="1950720" h="1623060">
                  <a:moveTo>
                    <a:pt x="0" y="0"/>
                  </a:moveTo>
                  <a:lnTo>
                    <a:pt x="1950720" y="0"/>
                  </a:lnTo>
                  <a:lnTo>
                    <a:pt x="195072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752" r="-56752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38100"/>
              <a:ext cx="1950720" cy="166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FC + </a:t>
              </a:r>
              <a:r>
                <a:rPr lang="en-US" sz="1800" dirty="0" err="1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ReLU</a:t>
              </a:r>
              <a:endParaRPr lang="en-US" sz="1800" dirty="0">
                <a:solidFill>
                  <a:srgbClr val="D0C8F5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Dropout 0.3</a:t>
              </a:r>
            </a:p>
          </p:txBody>
        </p:sp>
      </p:grpSp>
      <p:sp>
        <p:nvSpPr>
          <p:cNvPr id="75" name="Freeform 75"/>
          <p:cNvSpPr/>
          <p:nvPr/>
        </p:nvSpPr>
        <p:spPr>
          <a:xfrm>
            <a:off x="15311114" y="4797419"/>
            <a:ext cx="2976943" cy="965264"/>
          </a:xfrm>
          <a:custGeom>
            <a:avLst/>
            <a:gdLst/>
            <a:ahLst/>
            <a:cxnLst/>
            <a:rect l="l" t="t" r="r" b="b"/>
            <a:pathLst>
              <a:path w="2976943" h="965264">
                <a:moveTo>
                  <a:pt x="0" y="0"/>
                </a:moveTo>
                <a:lnTo>
                  <a:pt x="2976943" y="0"/>
                </a:lnTo>
                <a:lnTo>
                  <a:pt x="2976943" y="965263"/>
                </a:lnTo>
                <a:lnTo>
                  <a:pt x="0" y="965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76" name="Group 76"/>
          <p:cNvGrpSpPr/>
          <p:nvPr/>
        </p:nvGrpSpPr>
        <p:grpSpPr>
          <a:xfrm>
            <a:off x="15361910" y="4973574"/>
            <a:ext cx="2926080" cy="768096"/>
            <a:chOff x="0" y="0"/>
            <a:chExt cx="3901440" cy="102412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901440" cy="1024128"/>
            </a:xfrm>
            <a:custGeom>
              <a:avLst/>
              <a:gdLst/>
              <a:ahLst/>
              <a:cxnLst/>
              <a:rect l="l" t="t" r="r" b="b"/>
              <a:pathLst>
                <a:path w="3901440" h="1024128">
                  <a:moveTo>
                    <a:pt x="0" y="0"/>
                  </a:moveTo>
                  <a:lnTo>
                    <a:pt x="3901440" y="0"/>
                  </a:lnTo>
                  <a:lnTo>
                    <a:pt x="3901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176" b="-24177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5361910" y="4944999"/>
            <a:ext cx="2926080" cy="796671"/>
            <a:chOff x="0" y="0"/>
            <a:chExt cx="3901440" cy="106222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3901440" cy="1062228"/>
            </a:xfrm>
            <a:custGeom>
              <a:avLst/>
              <a:gdLst/>
              <a:ahLst/>
              <a:cxnLst/>
              <a:rect l="l" t="t" r="r" b="b"/>
              <a:pathLst>
                <a:path w="3901440" h="1062228">
                  <a:moveTo>
                    <a:pt x="0" y="0"/>
                  </a:moveTo>
                  <a:lnTo>
                    <a:pt x="3901440" y="0"/>
                  </a:lnTo>
                  <a:lnTo>
                    <a:pt x="390144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66" b="-21566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3901440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Dense(1) → Score</a:t>
              </a:r>
            </a:p>
          </p:txBody>
        </p:sp>
      </p:grpSp>
      <p:sp>
        <p:nvSpPr>
          <p:cNvPr id="81" name="Freeform 81"/>
          <p:cNvSpPr/>
          <p:nvPr/>
        </p:nvSpPr>
        <p:spPr>
          <a:xfrm>
            <a:off x="346710" y="6198870"/>
            <a:ext cx="8267700" cy="3604260"/>
          </a:xfrm>
          <a:custGeom>
            <a:avLst/>
            <a:gdLst/>
            <a:ahLst/>
            <a:cxnLst/>
            <a:rect l="l" t="t" r="r" b="b"/>
            <a:pathLst>
              <a:path w="8267700" h="3604260">
                <a:moveTo>
                  <a:pt x="0" y="0"/>
                </a:moveTo>
                <a:lnTo>
                  <a:pt x="8267700" y="0"/>
                </a:lnTo>
                <a:lnTo>
                  <a:pt x="8267700" y="3604260"/>
                </a:lnTo>
                <a:lnTo>
                  <a:pt x="0" y="3604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82" name="Group 82"/>
          <p:cNvGrpSpPr/>
          <p:nvPr/>
        </p:nvGrpSpPr>
        <p:grpSpPr>
          <a:xfrm>
            <a:off x="640080" y="6309360"/>
            <a:ext cx="7680960" cy="694944"/>
            <a:chOff x="0" y="0"/>
            <a:chExt cx="10241280" cy="92659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5211" b="-165211"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640080" y="6266497"/>
            <a:ext cx="7680960" cy="737806"/>
            <a:chOff x="0" y="0"/>
            <a:chExt cx="10241280" cy="983742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241280" cy="983742"/>
            </a:xfrm>
            <a:custGeom>
              <a:avLst/>
              <a:gdLst/>
              <a:ahLst/>
              <a:cxnLst/>
              <a:rect l="l" t="t" r="r" b="b"/>
              <a:pathLst>
                <a:path w="10241280" h="983742">
                  <a:moveTo>
                    <a:pt x="0" y="0"/>
                  </a:moveTo>
                  <a:lnTo>
                    <a:pt x="10241280" y="0"/>
                  </a:lnTo>
                  <a:lnTo>
                    <a:pt x="1024128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849" b="-152849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57150"/>
              <a:ext cx="10241280" cy="1040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Bidirectional GRU?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40080" y="7132320"/>
            <a:ext cx="7680960" cy="603504"/>
            <a:chOff x="0" y="0"/>
            <a:chExt cx="10241280" cy="80467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0241280" cy="804672"/>
            </a:xfrm>
            <a:custGeom>
              <a:avLst/>
              <a:gdLst/>
              <a:ahLst/>
              <a:cxnLst/>
              <a:rect l="l" t="t" r="r" b="b"/>
              <a:pathLst>
                <a:path w="10241280" h="804672">
                  <a:moveTo>
                    <a:pt x="0" y="0"/>
                  </a:moveTo>
                  <a:lnTo>
                    <a:pt x="10241280" y="0"/>
                  </a:lnTo>
                  <a:lnTo>
                    <a:pt x="1024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818" b="-197818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640080" y="7096601"/>
            <a:ext cx="7680960" cy="639223"/>
            <a:chOff x="0" y="0"/>
            <a:chExt cx="10241280" cy="85229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241280" cy="852297"/>
            </a:xfrm>
            <a:custGeom>
              <a:avLst/>
              <a:gdLst/>
              <a:ahLst/>
              <a:cxnLst/>
              <a:rect l="l" t="t" r="r" b="b"/>
              <a:pathLst>
                <a:path w="10241280" h="852297">
                  <a:moveTo>
                    <a:pt x="0" y="0"/>
                  </a:moveTo>
                  <a:lnTo>
                    <a:pt x="10241280" y="0"/>
                  </a:lnTo>
                  <a:lnTo>
                    <a:pt x="1024128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134" b="-184134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1024128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Captures both 5'→3' and 3'→5' dependencies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40080" y="7772400"/>
            <a:ext cx="7680960" cy="603504"/>
            <a:chOff x="0" y="0"/>
            <a:chExt cx="10241280" cy="80467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0241280" cy="804672"/>
            </a:xfrm>
            <a:custGeom>
              <a:avLst/>
              <a:gdLst/>
              <a:ahLst/>
              <a:cxnLst/>
              <a:rect l="l" t="t" r="r" b="b"/>
              <a:pathLst>
                <a:path w="10241280" h="804672">
                  <a:moveTo>
                    <a:pt x="0" y="0"/>
                  </a:moveTo>
                  <a:lnTo>
                    <a:pt x="10241280" y="0"/>
                  </a:lnTo>
                  <a:lnTo>
                    <a:pt x="1024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818" b="-197818"/>
              </a:stretch>
            </a:blipFill>
          </p:spPr>
        </p:sp>
      </p:grpSp>
      <p:grpSp>
        <p:nvGrpSpPr>
          <p:cNvPr id="94" name="Group 94"/>
          <p:cNvGrpSpPr/>
          <p:nvPr/>
        </p:nvGrpSpPr>
        <p:grpSpPr>
          <a:xfrm>
            <a:off x="640080" y="7736681"/>
            <a:ext cx="7680960" cy="639223"/>
            <a:chOff x="0" y="0"/>
            <a:chExt cx="10241280" cy="852297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241280" cy="852297"/>
            </a:xfrm>
            <a:custGeom>
              <a:avLst/>
              <a:gdLst/>
              <a:ahLst/>
              <a:cxnLst/>
              <a:rect l="l" t="t" r="r" b="b"/>
              <a:pathLst>
                <a:path w="10241280" h="852297">
                  <a:moveTo>
                    <a:pt x="0" y="0"/>
                  </a:moveTo>
                  <a:lnTo>
                    <a:pt x="10241280" y="0"/>
                  </a:lnTo>
                  <a:lnTo>
                    <a:pt x="1024128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134" b="-184134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47625"/>
              <a:ext cx="1024128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Position-dependent interactions occur in binding sites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40080" y="8412480"/>
            <a:ext cx="7680960" cy="603504"/>
            <a:chOff x="0" y="0"/>
            <a:chExt cx="10241280" cy="804672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0241280" cy="804672"/>
            </a:xfrm>
            <a:custGeom>
              <a:avLst/>
              <a:gdLst/>
              <a:ahLst/>
              <a:cxnLst/>
              <a:rect l="l" t="t" r="r" b="b"/>
              <a:pathLst>
                <a:path w="10241280" h="804672">
                  <a:moveTo>
                    <a:pt x="0" y="0"/>
                  </a:moveTo>
                  <a:lnTo>
                    <a:pt x="10241280" y="0"/>
                  </a:lnTo>
                  <a:lnTo>
                    <a:pt x="1024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818" b="-197818"/>
              </a:stretch>
            </a:blipFill>
          </p:spPr>
        </p:sp>
      </p:grpSp>
      <p:grpSp>
        <p:nvGrpSpPr>
          <p:cNvPr id="99" name="Group 99"/>
          <p:cNvGrpSpPr/>
          <p:nvPr/>
        </p:nvGrpSpPr>
        <p:grpSpPr>
          <a:xfrm>
            <a:off x="640080" y="8376761"/>
            <a:ext cx="7680960" cy="639223"/>
            <a:chOff x="0" y="0"/>
            <a:chExt cx="10241280" cy="852297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241280" cy="852297"/>
            </a:xfrm>
            <a:custGeom>
              <a:avLst/>
              <a:gdLst/>
              <a:ahLst/>
              <a:cxnLst/>
              <a:rect l="l" t="t" r="r" b="b"/>
              <a:pathLst>
                <a:path w="10241280" h="852297">
                  <a:moveTo>
                    <a:pt x="0" y="0"/>
                  </a:moveTo>
                  <a:lnTo>
                    <a:pt x="10241280" y="0"/>
                  </a:lnTo>
                  <a:lnTo>
                    <a:pt x="1024128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134" b="-184134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47625"/>
              <a:ext cx="1024128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GRU: fewer params than LSTM, similar performance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40080" y="9052560"/>
            <a:ext cx="7680960" cy="603504"/>
            <a:chOff x="0" y="0"/>
            <a:chExt cx="10241280" cy="804672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0241280" cy="804672"/>
            </a:xfrm>
            <a:custGeom>
              <a:avLst/>
              <a:gdLst/>
              <a:ahLst/>
              <a:cxnLst/>
              <a:rect l="l" t="t" r="r" b="b"/>
              <a:pathLst>
                <a:path w="10241280" h="804672">
                  <a:moveTo>
                    <a:pt x="0" y="0"/>
                  </a:moveTo>
                  <a:lnTo>
                    <a:pt x="10241280" y="0"/>
                  </a:lnTo>
                  <a:lnTo>
                    <a:pt x="102412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818" b="-197818"/>
              </a:stretch>
            </a:blipFill>
          </p:spPr>
        </p:sp>
      </p:grpSp>
      <p:grpSp>
        <p:nvGrpSpPr>
          <p:cNvPr id="104" name="Group 104"/>
          <p:cNvGrpSpPr/>
          <p:nvPr/>
        </p:nvGrpSpPr>
        <p:grpSpPr>
          <a:xfrm>
            <a:off x="640080" y="9016841"/>
            <a:ext cx="7680960" cy="639223"/>
            <a:chOff x="0" y="0"/>
            <a:chExt cx="10241280" cy="852297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0241280" cy="852297"/>
            </a:xfrm>
            <a:custGeom>
              <a:avLst/>
              <a:gdLst/>
              <a:ahLst/>
              <a:cxnLst/>
              <a:rect l="l" t="t" r="r" b="b"/>
              <a:pathLst>
                <a:path w="10241280" h="852297">
                  <a:moveTo>
                    <a:pt x="0" y="0"/>
                  </a:moveTo>
                  <a:lnTo>
                    <a:pt x="10241280" y="0"/>
                  </a:lnTo>
                  <a:lnTo>
                    <a:pt x="1024128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134" b="-184134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47625"/>
              <a:ext cx="1024128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Cell size 64 (128 total after </a:t>
              </a:r>
              <a:r>
                <a:rPr lang="en-US" sz="2200" dirty="0" err="1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BiDirectional</a:t>
              </a:r>
              <a:r>
                <a:rPr lang="en-US" sz="2200" dirty="0">
                  <a:solidFill>
                    <a:srgbClr val="D0C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merge)</a:t>
              </a:r>
            </a:p>
          </p:txBody>
        </p:sp>
      </p:grpSp>
      <p:sp>
        <p:nvSpPr>
          <p:cNvPr id="107" name="Freeform 107"/>
          <p:cNvSpPr/>
          <p:nvPr/>
        </p:nvSpPr>
        <p:spPr>
          <a:xfrm>
            <a:off x="9124950" y="6198870"/>
            <a:ext cx="8633460" cy="3604260"/>
          </a:xfrm>
          <a:custGeom>
            <a:avLst/>
            <a:gdLst/>
            <a:ahLst/>
            <a:cxnLst/>
            <a:rect l="l" t="t" r="r" b="b"/>
            <a:pathLst>
              <a:path w="8633460" h="3604260">
                <a:moveTo>
                  <a:pt x="0" y="0"/>
                </a:moveTo>
                <a:lnTo>
                  <a:pt x="8633460" y="0"/>
                </a:lnTo>
                <a:lnTo>
                  <a:pt x="8633460" y="3604260"/>
                </a:lnTo>
                <a:lnTo>
                  <a:pt x="0" y="3604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08" name="Group 108"/>
          <p:cNvGrpSpPr/>
          <p:nvPr/>
        </p:nvGrpSpPr>
        <p:grpSpPr>
          <a:xfrm>
            <a:off x="9418320" y="6309360"/>
            <a:ext cx="8046720" cy="694944"/>
            <a:chOff x="0" y="0"/>
            <a:chExt cx="10728960" cy="926592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728960" cy="926592"/>
            </a:xfrm>
            <a:custGeom>
              <a:avLst/>
              <a:gdLst/>
              <a:ahLst/>
              <a:cxnLst/>
              <a:rect l="l" t="t" r="r" b="b"/>
              <a:pathLst>
                <a:path w="10728960" h="926592">
                  <a:moveTo>
                    <a:pt x="0" y="0"/>
                  </a:moveTo>
                  <a:lnTo>
                    <a:pt x="10728960" y="0"/>
                  </a:lnTo>
                  <a:lnTo>
                    <a:pt x="10728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459" b="-175459"/>
              </a:stretch>
            </a:blipFill>
          </p:spPr>
        </p:sp>
      </p:grpSp>
      <p:grpSp>
        <p:nvGrpSpPr>
          <p:cNvPr id="110" name="Group 110"/>
          <p:cNvGrpSpPr/>
          <p:nvPr/>
        </p:nvGrpSpPr>
        <p:grpSpPr>
          <a:xfrm>
            <a:off x="9418320" y="6266497"/>
            <a:ext cx="8046720" cy="737806"/>
            <a:chOff x="0" y="0"/>
            <a:chExt cx="10728960" cy="983742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0728960" cy="983742"/>
            </a:xfrm>
            <a:custGeom>
              <a:avLst/>
              <a:gdLst/>
              <a:ahLst/>
              <a:cxnLst/>
              <a:rect l="l" t="t" r="r" b="b"/>
              <a:pathLst>
                <a:path w="10728960" h="983742">
                  <a:moveTo>
                    <a:pt x="0" y="0"/>
                  </a:moveTo>
                  <a:lnTo>
                    <a:pt x="10728960" y="0"/>
                  </a:lnTo>
                  <a:lnTo>
                    <a:pt x="1072896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509" b="-162509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57150"/>
              <a:ext cx="10728960" cy="1040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RNN vs CNN — Key Difference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418320" y="6830568"/>
            <a:ext cx="8046720" cy="603504"/>
            <a:chOff x="0" y="0"/>
            <a:chExt cx="10728960" cy="804672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0728960" cy="804672"/>
            </a:xfrm>
            <a:custGeom>
              <a:avLst/>
              <a:gdLst/>
              <a:ahLst/>
              <a:cxnLst/>
              <a:rect l="l" t="t" r="r" b="b"/>
              <a:pathLst>
                <a:path w="10728960" h="804672">
                  <a:moveTo>
                    <a:pt x="0" y="0"/>
                  </a:moveTo>
                  <a:lnTo>
                    <a:pt x="10728960" y="0"/>
                  </a:lnTo>
                  <a:lnTo>
                    <a:pt x="10728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619" b="-209619"/>
              </a:stretch>
            </a:blipFill>
          </p:spPr>
        </p:sp>
      </p:grpSp>
      <p:grpSp>
        <p:nvGrpSpPr>
          <p:cNvPr id="115" name="Group 115"/>
          <p:cNvGrpSpPr/>
          <p:nvPr/>
        </p:nvGrpSpPr>
        <p:grpSpPr>
          <a:xfrm>
            <a:off x="9418320" y="6794849"/>
            <a:ext cx="8046720" cy="639223"/>
            <a:chOff x="0" y="0"/>
            <a:chExt cx="10728960" cy="852297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0728960" cy="852297"/>
            </a:xfrm>
            <a:custGeom>
              <a:avLst/>
              <a:gdLst/>
              <a:ahLst/>
              <a:cxnLst/>
              <a:rect l="l" t="t" r="r" b="b"/>
              <a:pathLst>
                <a:path w="10728960" h="852297">
                  <a:moveTo>
                    <a:pt x="0" y="0"/>
                  </a:moveTo>
                  <a:lnTo>
                    <a:pt x="10728960" y="0"/>
                  </a:lnTo>
                  <a:lnTo>
                    <a:pt x="1072896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5283" b="-195283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47625"/>
              <a:ext cx="1072896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CNN: local motif detection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418320" y="7347204"/>
            <a:ext cx="8046720" cy="603504"/>
            <a:chOff x="0" y="0"/>
            <a:chExt cx="10728960" cy="804672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0728960" cy="804672"/>
            </a:xfrm>
            <a:custGeom>
              <a:avLst/>
              <a:gdLst/>
              <a:ahLst/>
              <a:cxnLst/>
              <a:rect l="l" t="t" r="r" b="b"/>
              <a:pathLst>
                <a:path w="10728960" h="804672">
                  <a:moveTo>
                    <a:pt x="0" y="0"/>
                  </a:moveTo>
                  <a:lnTo>
                    <a:pt x="10728960" y="0"/>
                  </a:lnTo>
                  <a:lnTo>
                    <a:pt x="10728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619" b="-209619"/>
              </a:stretch>
            </a:blipFill>
          </p:spPr>
        </p:sp>
      </p:grpSp>
      <p:grpSp>
        <p:nvGrpSpPr>
          <p:cNvPr id="120" name="Group 120"/>
          <p:cNvGrpSpPr/>
          <p:nvPr/>
        </p:nvGrpSpPr>
        <p:grpSpPr>
          <a:xfrm>
            <a:off x="9418320" y="7311485"/>
            <a:ext cx="8046720" cy="639223"/>
            <a:chOff x="0" y="0"/>
            <a:chExt cx="10728960" cy="852297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0728960" cy="852297"/>
            </a:xfrm>
            <a:custGeom>
              <a:avLst/>
              <a:gdLst/>
              <a:ahLst/>
              <a:cxnLst/>
              <a:rect l="l" t="t" r="r" b="b"/>
              <a:pathLst>
                <a:path w="10728960" h="852297">
                  <a:moveTo>
                    <a:pt x="0" y="0"/>
                  </a:moveTo>
                  <a:lnTo>
                    <a:pt x="10728960" y="0"/>
                  </a:lnTo>
                  <a:lnTo>
                    <a:pt x="1072896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5283" b="-195283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47625"/>
              <a:ext cx="1072896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RNN: sequential, long-range dependencies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18320" y="7891272"/>
            <a:ext cx="8046720" cy="603504"/>
            <a:chOff x="0" y="0"/>
            <a:chExt cx="10728960" cy="804672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10728960" cy="804672"/>
            </a:xfrm>
            <a:custGeom>
              <a:avLst/>
              <a:gdLst/>
              <a:ahLst/>
              <a:cxnLst/>
              <a:rect l="l" t="t" r="r" b="b"/>
              <a:pathLst>
                <a:path w="10728960" h="804672">
                  <a:moveTo>
                    <a:pt x="0" y="0"/>
                  </a:moveTo>
                  <a:lnTo>
                    <a:pt x="10728960" y="0"/>
                  </a:lnTo>
                  <a:lnTo>
                    <a:pt x="10728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619" b="-209619"/>
              </a:stretch>
            </a:blipFill>
          </p:spPr>
        </p:sp>
      </p:grpSp>
      <p:grpSp>
        <p:nvGrpSpPr>
          <p:cNvPr id="125" name="Group 125"/>
          <p:cNvGrpSpPr/>
          <p:nvPr/>
        </p:nvGrpSpPr>
        <p:grpSpPr>
          <a:xfrm>
            <a:off x="9418320" y="7855553"/>
            <a:ext cx="8046720" cy="639223"/>
            <a:chOff x="0" y="0"/>
            <a:chExt cx="10728960" cy="852297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10728960" cy="852297"/>
            </a:xfrm>
            <a:custGeom>
              <a:avLst/>
              <a:gdLst/>
              <a:ahLst/>
              <a:cxnLst/>
              <a:rect l="l" t="t" r="r" b="b"/>
              <a:pathLst>
                <a:path w="10728960" h="852297">
                  <a:moveTo>
                    <a:pt x="0" y="0"/>
                  </a:moveTo>
                  <a:lnTo>
                    <a:pt x="10728960" y="0"/>
                  </a:lnTo>
                  <a:lnTo>
                    <a:pt x="1072896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5283" b="-195283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47625"/>
              <a:ext cx="1072896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RNN ≈ CNN on in vitro (avg r 0.683 vs 0.682)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9418320" y="8407908"/>
            <a:ext cx="8046720" cy="603504"/>
            <a:chOff x="0" y="0"/>
            <a:chExt cx="10728960" cy="804672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10728960" cy="804672"/>
            </a:xfrm>
            <a:custGeom>
              <a:avLst/>
              <a:gdLst/>
              <a:ahLst/>
              <a:cxnLst/>
              <a:rect l="l" t="t" r="r" b="b"/>
              <a:pathLst>
                <a:path w="10728960" h="804672">
                  <a:moveTo>
                    <a:pt x="0" y="0"/>
                  </a:moveTo>
                  <a:lnTo>
                    <a:pt x="10728960" y="0"/>
                  </a:lnTo>
                  <a:lnTo>
                    <a:pt x="10728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619" b="-209619"/>
              </a:stretch>
            </a:blipFill>
          </p:spPr>
        </p:sp>
      </p:grpSp>
      <p:grpSp>
        <p:nvGrpSpPr>
          <p:cNvPr id="130" name="Group 130"/>
          <p:cNvGrpSpPr/>
          <p:nvPr/>
        </p:nvGrpSpPr>
        <p:grpSpPr>
          <a:xfrm>
            <a:off x="9418320" y="8372189"/>
            <a:ext cx="8046720" cy="639223"/>
            <a:chOff x="0" y="0"/>
            <a:chExt cx="10728960" cy="852297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0728960" cy="852297"/>
            </a:xfrm>
            <a:custGeom>
              <a:avLst/>
              <a:gdLst/>
              <a:ahLst/>
              <a:cxnLst/>
              <a:rect l="l" t="t" r="r" b="b"/>
              <a:pathLst>
                <a:path w="10728960" h="852297">
                  <a:moveTo>
                    <a:pt x="0" y="0"/>
                  </a:moveTo>
                  <a:lnTo>
                    <a:pt x="10728960" y="0"/>
                  </a:lnTo>
                  <a:lnTo>
                    <a:pt x="1072896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5283" b="-195283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47625"/>
              <a:ext cx="1072896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endParaRPr lang="en-US" sz="2200" dirty="0">
                <a:solidFill>
                  <a:srgbClr val="D0E8F5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418320" y="9068562"/>
            <a:ext cx="8046720" cy="603504"/>
            <a:chOff x="0" y="0"/>
            <a:chExt cx="10728960" cy="804672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10728960" cy="804672"/>
            </a:xfrm>
            <a:custGeom>
              <a:avLst/>
              <a:gdLst/>
              <a:ahLst/>
              <a:cxnLst/>
              <a:rect l="l" t="t" r="r" b="b"/>
              <a:pathLst>
                <a:path w="10728960" h="804672">
                  <a:moveTo>
                    <a:pt x="0" y="0"/>
                  </a:moveTo>
                  <a:lnTo>
                    <a:pt x="10728960" y="0"/>
                  </a:lnTo>
                  <a:lnTo>
                    <a:pt x="107289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619" b="-209619"/>
              </a:stretch>
            </a:blipFill>
          </p:spPr>
        </p:sp>
      </p:grpSp>
      <p:grpSp>
        <p:nvGrpSpPr>
          <p:cNvPr id="135" name="Group 135"/>
          <p:cNvGrpSpPr/>
          <p:nvPr/>
        </p:nvGrpSpPr>
        <p:grpSpPr>
          <a:xfrm>
            <a:off x="9418320" y="8420100"/>
            <a:ext cx="8046720" cy="639223"/>
            <a:chOff x="0" y="0"/>
            <a:chExt cx="10728960" cy="852297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10728960" cy="852297"/>
            </a:xfrm>
            <a:custGeom>
              <a:avLst/>
              <a:gdLst/>
              <a:ahLst/>
              <a:cxnLst/>
              <a:rect l="l" t="t" r="r" b="b"/>
              <a:pathLst>
                <a:path w="10728960" h="852297">
                  <a:moveTo>
                    <a:pt x="0" y="0"/>
                  </a:moveTo>
                  <a:lnTo>
                    <a:pt x="10728960" y="0"/>
                  </a:lnTo>
                  <a:lnTo>
                    <a:pt x="10728960" y="852297"/>
                  </a:lnTo>
                  <a:lnTo>
                    <a:pt x="0" y="8522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5283" b="-195283"/>
              </a:stretch>
            </a:blipFill>
          </p:spPr>
        </p:sp>
        <p:sp>
          <p:nvSpPr>
            <p:cNvPr id="137" name="TextBox 137"/>
            <p:cNvSpPr txBox="1"/>
            <p:nvPr/>
          </p:nvSpPr>
          <p:spPr>
            <a:xfrm>
              <a:off x="0" y="-47625"/>
              <a:ext cx="10728960" cy="8999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RNN slightly better per-protein on many proteins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659" y="0"/>
            <a:ext cx="16459200" cy="2124596"/>
            <a:chOff x="0" y="0"/>
            <a:chExt cx="21945600" cy="28327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832795"/>
            </a:xfrm>
            <a:custGeom>
              <a:avLst/>
              <a:gdLst/>
              <a:ahLst/>
              <a:cxnLst/>
              <a:rect l="l" t="t" r="r" b="b"/>
              <a:pathLst>
                <a:path w="21945600" h="2832795">
                  <a:moveTo>
                    <a:pt x="0" y="0"/>
                  </a:moveTo>
                  <a:lnTo>
                    <a:pt x="21945600" y="0"/>
                  </a:lnTo>
                  <a:lnTo>
                    <a:pt x="21945600" y="2832795"/>
                  </a:lnTo>
                  <a:lnTo>
                    <a:pt x="0" y="28327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2941" b="-7895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1945600" cy="2956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RNN Architecture — Bidirectional GRU</a:t>
              </a:r>
            </a:p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Trainable parameters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-136935" y="1958746"/>
            <a:ext cx="9734194" cy="5423945"/>
          </a:xfrm>
          <a:custGeom>
            <a:avLst/>
            <a:gdLst/>
            <a:ahLst/>
            <a:cxnLst/>
            <a:rect l="l" t="t" r="r" b="b"/>
            <a:pathLst>
              <a:path w="9734194" h="5423945">
                <a:moveTo>
                  <a:pt x="0" y="0"/>
                </a:moveTo>
                <a:lnTo>
                  <a:pt x="9734194" y="0"/>
                </a:lnTo>
                <a:lnTo>
                  <a:pt x="9734194" y="5423945"/>
                </a:lnTo>
                <a:lnTo>
                  <a:pt x="0" y="5423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65" r="-513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99910" y="1958746"/>
            <a:ext cx="8288090" cy="5407751"/>
          </a:xfrm>
          <a:custGeom>
            <a:avLst/>
            <a:gdLst/>
            <a:ahLst/>
            <a:cxnLst/>
            <a:rect l="l" t="t" r="r" b="b"/>
            <a:pathLst>
              <a:path w="8288090" h="5407751">
                <a:moveTo>
                  <a:pt x="0" y="0"/>
                </a:moveTo>
                <a:lnTo>
                  <a:pt x="8288090" y="0"/>
                </a:lnTo>
                <a:lnTo>
                  <a:pt x="8288090" y="5407750"/>
                </a:lnTo>
                <a:lnTo>
                  <a:pt x="0" y="5407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24659" y="7558482"/>
            <a:ext cx="16824960" cy="1299753"/>
            <a:chOff x="0" y="0"/>
            <a:chExt cx="22433280" cy="17330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33280" cy="1733004"/>
            </a:xfrm>
            <a:custGeom>
              <a:avLst/>
              <a:gdLst/>
              <a:ahLst/>
              <a:cxnLst/>
              <a:rect l="l" t="t" r="r" b="b"/>
              <a:pathLst>
                <a:path w="22433280" h="1733004">
                  <a:moveTo>
                    <a:pt x="0" y="0"/>
                  </a:moveTo>
                  <a:lnTo>
                    <a:pt x="22433280" y="0"/>
                  </a:lnTo>
                  <a:lnTo>
                    <a:pt x="22433280" y="1733004"/>
                  </a:lnTo>
                  <a:lnTo>
                    <a:pt x="0" y="1733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5956" b="-178500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433280" cy="1790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endParaRPr lang="en-US" sz="2600" b="1" dirty="0">
                <a:solidFill>
                  <a:srgbClr val="1B8FC1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57200"/>
            <a:ext cx="16459200" cy="1097280"/>
            <a:chOff x="0" y="0"/>
            <a:chExt cx="2194560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64331"/>
            <a:ext cx="16459200" cy="1190149"/>
            <a:chOff x="0" y="0"/>
            <a:chExt cx="21945600" cy="1586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586865"/>
            </a:xfrm>
            <a:custGeom>
              <a:avLst/>
              <a:gdLst/>
              <a:ahLst/>
              <a:cxnLst/>
              <a:rect l="l" t="t" r="r" b="b"/>
              <a:pathLst>
                <a:path w="21945600" h="1586865">
                  <a:moveTo>
                    <a:pt x="0" y="0"/>
                  </a:moveTo>
                  <a:lnTo>
                    <a:pt x="21945600" y="0"/>
                  </a:lnTo>
                  <a:lnTo>
                    <a:pt x="2194560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9468" b="-21946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10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Evaluation &amp; Metrics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487888" y="1713547"/>
            <a:ext cx="5537264" cy="4622864"/>
          </a:xfrm>
          <a:custGeom>
            <a:avLst/>
            <a:gdLst/>
            <a:ahLst/>
            <a:cxnLst/>
            <a:rect l="l" t="t" r="r" b="b"/>
            <a:pathLst>
              <a:path w="5537264" h="4622864">
                <a:moveTo>
                  <a:pt x="0" y="0"/>
                </a:moveTo>
                <a:lnTo>
                  <a:pt x="5537263" y="0"/>
                </a:lnTo>
                <a:lnTo>
                  <a:pt x="5537263" y="4622863"/>
                </a:lnTo>
                <a:lnTo>
                  <a:pt x="0" y="46228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487888" y="1756840"/>
            <a:ext cx="5511736" cy="793432"/>
          </a:xfrm>
          <a:custGeom>
            <a:avLst/>
            <a:gdLst/>
            <a:ahLst/>
            <a:cxnLst/>
            <a:rect l="l" t="t" r="r" b="b"/>
            <a:pathLst>
              <a:path w="5511736" h="793432">
                <a:moveTo>
                  <a:pt x="0" y="0"/>
                </a:moveTo>
                <a:lnTo>
                  <a:pt x="5511737" y="0"/>
                </a:lnTo>
                <a:lnTo>
                  <a:pt x="5511737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604760" y="1773553"/>
            <a:ext cx="5303520" cy="78066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358"/>
              </a:lnSpc>
            </a:pPr>
            <a:r>
              <a:rPr lang="en-US" sz="2799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Pearson 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763000" y="2375923"/>
            <a:ext cx="7162801" cy="2395150"/>
            <a:chOff x="0" y="-341748"/>
            <a:chExt cx="16037761" cy="3193533"/>
          </a:xfrm>
        </p:grpSpPr>
        <p:sp>
          <p:nvSpPr>
            <p:cNvPr id="17" name="Freeform 17"/>
            <p:cNvSpPr/>
            <p:nvPr/>
          </p:nvSpPr>
          <p:spPr>
            <a:xfrm>
              <a:off x="9210241" y="-341748"/>
              <a:ext cx="6827520" cy="2851785"/>
            </a:xfrm>
            <a:custGeom>
              <a:avLst/>
              <a:gdLst/>
              <a:ahLst/>
              <a:cxnLst/>
              <a:rect l="l" t="t" r="r" b="b"/>
              <a:pathLst>
                <a:path w="6827520" h="2851785">
                  <a:moveTo>
                    <a:pt x="0" y="0"/>
                  </a:moveTo>
                  <a:lnTo>
                    <a:pt x="6827520" y="0"/>
                  </a:lnTo>
                  <a:lnTo>
                    <a:pt x="6827520" y="2851785"/>
                  </a:lnTo>
                  <a:lnTo>
                    <a:pt x="0" y="28517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591" r="-35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6827520" cy="2899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Primary metric for in vitro. Measures linear correlation between predicted and measured binding intensities.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04512" y="4365946"/>
            <a:ext cx="5120640" cy="1316736"/>
            <a:chOff x="0" y="0"/>
            <a:chExt cx="6827520" cy="17556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27520" cy="1755648"/>
            </a:xfrm>
            <a:custGeom>
              <a:avLst/>
              <a:gdLst/>
              <a:ahLst/>
              <a:cxnLst/>
              <a:rect l="l" t="t" r="r" b="b"/>
              <a:pathLst>
                <a:path w="6827520" h="1755648">
                  <a:moveTo>
                    <a:pt x="0" y="0"/>
                  </a:moveTo>
                  <a:lnTo>
                    <a:pt x="6827520" y="0"/>
                  </a:lnTo>
                  <a:lnTo>
                    <a:pt x="68275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722" b="-2572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7696200" y="4427045"/>
            <a:ext cx="5120640" cy="1366742"/>
            <a:chOff x="0" y="0"/>
            <a:chExt cx="6827520" cy="182232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27520" cy="1822323"/>
            </a:xfrm>
            <a:custGeom>
              <a:avLst/>
              <a:gdLst/>
              <a:ahLst/>
              <a:cxnLst/>
              <a:rect l="l" t="t" r="r" b="b"/>
              <a:pathLst>
                <a:path w="6827520" h="1822323">
                  <a:moveTo>
                    <a:pt x="0" y="0"/>
                  </a:moveTo>
                  <a:lnTo>
                    <a:pt x="6827520" y="0"/>
                  </a:lnTo>
                  <a:lnTo>
                    <a:pt x="6827520" y="1822323"/>
                  </a:lnTo>
                  <a:lnTo>
                    <a:pt x="0" y="1822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002" b="-2300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6827520" cy="18889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79"/>
                </a:lnSpc>
              </a:pPr>
              <a:r>
                <a:rPr lang="en-US" sz="3400" b="1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0.682 (CNN)</a:t>
              </a:r>
            </a:p>
            <a:p>
              <a:pPr algn="ctr">
                <a:lnSpc>
                  <a:spcPts val="4079"/>
                </a:lnSpc>
              </a:pPr>
              <a:r>
                <a:rPr lang="en-US" sz="3400" b="1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0.683 (RNN)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82201" y="4527057"/>
            <a:ext cx="5120640" cy="1316736"/>
            <a:chOff x="0" y="0"/>
            <a:chExt cx="6827520" cy="17556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27520" cy="1755648"/>
            </a:xfrm>
            <a:custGeom>
              <a:avLst/>
              <a:gdLst/>
              <a:ahLst/>
              <a:cxnLst/>
              <a:rect l="l" t="t" r="r" b="b"/>
              <a:pathLst>
                <a:path w="6827520" h="1755648">
                  <a:moveTo>
                    <a:pt x="0" y="0"/>
                  </a:moveTo>
                  <a:lnTo>
                    <a:pt x="6827520" y="0"/>
                  </a:lnTo>
                  <a:lnTo>
                    <a:pt x="68275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722" b="-25721"/>
              </a:stretch>
            </a:blipFill>
          </p:spPr>
        </p:sp>
      </p:grpSp>
      <p:sp>
        <p:nvSpPr>
          <p:cNvPr id="41" name="Freeform 41"/>
          <p:cNvSpPr/>
          <p:nvPr/>
        </p:nvSpPr>
        <p:spPr>
          <a:xfrm>
            <a:off x="589972" y="6539978"/>
            <a:ext cx="17228820" cy="3238500"/>
          </a:xfrm>
          <a:custGeom>
            <a:avLst/>
            <a:gdLst/>
            <a:ahLst/>
            <a:cxnLst/>
            <a:rect l="l" t="t" r="r" b="b"/>
            <a:pathLst>
              <a:path w="17228820" h="3238500">
                <a:moveTo>
                  <a:pt x="0" y="0"/>
                </a:moveTo>
                <a:lnTo>
                  <a:pt x="17228820" y="0"/>
                </a:lnTo>
                <a:lnTo>
                  <a:pt x="1722882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822960" y="6675120"/>
            <a:ext cx="16642080" cy="694944"/>
            <a:chOff x="0" y="0"/>
            <a:chExt cx="22189440" cy="9265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189439" cy="926592"/>
            </a:xfrm>
            <a:custGeom>
              <a:avLst/>
              <a:gdLst/>
              <a:ahLst/>
              <a:cxnLst/>
              <a:rect l="l" t="t" r="r" b="b"/>
              <a:pathLst>
                <a:path w="22189439" h="926592">
                  <a:moveTo>
                    <a:pt x="0" y="0"/>
                  </a:moveTo>
                  <a:lnTo>
                    <a:pt x="22189439" y="0"/>
                  </a:lnTo>
                  <a:lnTo>
                    <a:pt x="22189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6291" b="-416291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822960" y="6632257"/>
            <a:ext cx="16642080" cy="737806"/>
            <a:chOff x="0" y="0"/>
            <a:chExt cx="22189440" cy="9837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189439" cy="983742"/>
            </a:xfrm>
            <a:custGeom>
              <a:avLst/>
              <a:gdLst/>
              <a:ahLst/>
              <a:cxnLst/>
              <a:rect l="l" t="t" r="r" b="b"/>
              <a:pathLst>
                <a:path w="22189439" h="983742">
                  <a:moveTo>
                    <a:pt x="0" y="0"/>
                  </a:moveTo>
                  <a:lnTo>
                    <a:pt x="22189439" y="0"/>
                  </a:lnTo>
                  <a:lnTo>
                    <a:pt x="22189439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9507" b="-38950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22189440" cy="1040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Additional Metrics &amp; Training Details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22960" y="7498080"/>
            <a:ext cx="8321040" cy="877824"/>
            <a:chOff x="0" y="0"/>
            <a:chExt cx="11094720" cy="117043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094720" cy="1170432"/>
            </a:xfrm>
            <a:custGeom>
              <a:avLst/>
              <a:gdLst/>
              <a:ahLst/>
              <a:cxnLst/>
              <a:rect l="l" t="t" r="r" b="b"/>
              <a:pathLst>
                <a:path w="11094720" h="1170432">
                  <a:moveTo>
                    <a:pt x="0" y="0"/>
                  </a:moveTo>
                  <a:lnTo>
                    <a:pt x="11094720" y="0"/>
                  </a:lnTo>
                  <a:lnTo>
                    <a:pt x="11094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573" b="-134573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822960" y="7462361"/>
            <a:ext cx="8321040" cy="913543"/>
            <a:chOff x="0" y="0"/>
            <a:chExt cx="11094720" cy="121805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094720" cy="1218057"/>
            </a:xfrm>
            <a:custGeom>
              <a:avLst/>
              <a:gdLst/>
              <a:ahLst/>
              <a:cxnLst/>
              <a:rect l="l" t="t" r="r" b="b"/>
              <a:pathLst>
                <a:path w="11094720" h="1218057">
                  <a:moveTo>
                    <a:pt x="0" y="0"/>
                  </a:moveTo>
                  <a:lnTo>
                    <a:pt x="11094720" y="0"/>
                  </a:lnTo>
                  <a:lnTo>
                    <a:pt x="1109472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480" b="-127480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109472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Loss Function: </a:t>
              </a:r>
              <a:r>
                <a:rPr lang="en-US" sz="22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MSE (Mean Squared Error) for in vitro intensity regression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418320" y="7498080"/>
            <a:ext cx="8321040" cy="877824"/>
            <a:chOff x="0" y="0"/>
            <a:chExt cx="11094720" cy="117043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094720" cy="1170432"/>
            </a:xfrm>
            <a:custGeom>
              <a:avLst/>
              <a:gdLst/>
              <a:ahLst/>
              <a:cxnLst/>
              <a:rect l="l" t="t" r="r" b="b"/>
              <a:pathLst>
                <a:path w="11094720" h="1170432">
                  <a:moveTo>
                    <a:pt x="0" y="0"/>
                  </a:moveTo>
                  <a:lnTo>
                    <a:pt x="11094720" y="0"/>
                  </a:lnTo>
                  <a:lnTo>
                    <a:pt x="110947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573" b="-134573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9376988" y="7309850"/>
            <a:ext cx="8321040" cy="913543"/>
            <a:chOff x="0" y="0"/>
            <a:chExt cx="11094720" cy="121805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094720" cy="1218057"/>
            </a:xfrm>
            <a:custGeom>
              <a:avLst/>
              <a:gdLst/>
              <a:ahLst/>
              <a:cxnLst/>
              <a:rect l="l" t="t" r="r" b="b"/>
              <a:pathLst>
                <a:path w="11094720" h="1218057">
                  <a:moveTo>
                    <a:pt x="0" y="0"/>
                  </a:moveTo>
                  <a:lnTo>
                    <a:pt x="11094720" y="0"/>
                  </a:lnTo>
                  <a:lnTo>
                    <a:pt x="1109472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480" b="-127480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11094720" cy="12656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dirty="0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Ablation: </a:t>
              </a:r>
              <a:r>
                <a:rPr lang="en-US" sz="22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seq-only avg r = 0.671 vs </a:t>
              </a:r>
              <a:r>
                <a:rPr lang="en-US" sz="2200" dirty="0" err="1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seq+struct</a:t>
              </a:r>
              <a:r>
                <a:rPr lang="en-US" sz="2200" dirty="0">
                  <a:solidFill>
                    <a:srgbClr val="0F1B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= 0.682 (Δ = +0.011, p = 0.006)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9418320" y="8432482"/>
            <a:ext cx="8321040" cy="9492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640"/>
              </a:lnSpc>
            </a:pPr>
            <a:r>
              <a:rPr lang="en-US" sz="2200" b="1" dirty="0">
                <a:solidFill>
                  <a:srgbClr val="1B8F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Structure gain (vitro): </a:t>
            </a:r>
            <a:r>
              <a:rPr lang="en-US" sz="2200" dirty="0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Every single protein shows improvement when structure is added — consistent across 9 proteins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402336"/>
            <a:ext cx="16459200" cy="1097280"/>
            <a:chOff x="0" y="0"/>
            <a:chExt cx="2194560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2" b="-24207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316611"/>
            <a:ext cx="16459200" cy="1183005"/>
            <a:chOff x="0" y="0"/>
            <a:chExt cx="21945600" cy="15773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577340"/>
            </a:xfrm>
            <a:custGeom>
              <a:avLst/>
              <a:gdLst/>
              <a:ahLst/>
              <a:cxnLst/>
              <a:rect l="l" t="t" r="r" b="b"/>
              <a:pathLst>
                <a:path w="21945600" h="1577340">
                  <a:moveTo>
                    <a:pt x="0" y="0"/>
                  </a:moveTo>
                  <a:lnTo>
                    <a:pt x="21945600" y="0"/>
                  </a:lnTo>
                  <a:lnTo>
                    <a:pt x="21945600" y="1577340"/>
                  </a:lnTo>
                  <a:lnTo>
                    <a:pt x="0" y="1577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1096" b="-22109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33350"/>
              <a:ext cx="21945600" cy="1710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8"/>
                </a:lnSpc>
              </a:pPr>
              <a:r>
                <a:rPr lang="en-US" sz="5599" b="1">
                  <a:solidFill>
                    <a:srgbClr val="0F1B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Structure Logos — Biological Insights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12470" y="1626870"/>
            <a:ext cx="16863060" cy="1866900"/>
          </a:xfrm>
          <a:custGeom>
            <a:avLst/>
            <a:gdLst/>
            <a:ahLst/>
            <a:cxnLst/>
            <a:rect l="l" t="t" r="r" b="b"/>
            <a:pathLst>
              <a:path w="16863060" h="1866900">
                <a:moveTo>
                  <a:pt x="0" y="0"/>
                </a:moveTo>
                <a:lnTo>
                  <a:pt x="16863060" y="0"/>
                </a:lnTo>
                <a:lnTo>
                  <a:pt x="1686306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05840" y="1700784"/>
            <a:ext cx="6400800" cy="658368"/>
            <a:chOff x="0" y="0"/>
            <a:chExt cx="8534400" cy="8778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4400" cy="877824"/>
            </a:xfrm>
            <a:custGeom>
              <a:avLst/>
              <a:gdLst/>
              <a:ahLst/>
              <a:cxnLst/>
              <a:rect l="l" t="t" r="r" b="b"/>
              <a:pathLst>
                <a:path w="8534400" h="877824">
                  <a:moveTo>
                    <a:pt x="0" y="0"/>
                  </a:moveTo>
                  <a:lnTo>
                    <a:pt x="8534400" y="0"/>
                  </a:lnTo>
                  <a:lnTo>
                    <a:pt x="8534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305" b="-13930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05840" y="1657922"/>
            <a:ext cx="6400800" cy="701230"/>
            <a:chOff x="0" y="0"/>
            <a:chExt cx="8534400" cy="9349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34400" cy="934974"/>
            </a:xfrm>
            <a:custGeom>
              <a:avLst/>
              <a:gdLst/>
              <a:ahLst/>
              <a:cxnLst/>
              <a:rect l="l" t="t" r="r" b="b"/>
              <a:pathLst>
                <a:path w="8534400" h="934974">
                  <a:moveTo>
                    <a:pt x="0" y="0"/>
                  </a:moveTo>
                  <a:lnTo>
                    <a:pt x="8534400" y="0"/>
                  </a:lnTo>
                  <a:lnTo>
                    <a:pt x="8534400" y="934974"/>
                  </a:lnTo>
                  <a:lnTo>
                    <a:pt x="0" y="9349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858" b="-12785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534400" cy="9921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B8FC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CNN Filters Are Interpreted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05840" y="2269426"/>
            <a:ext cx="16276320" cy="107727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760"/>
              </a:lnSpc>
            </a:pPr>
            <a:r>
              <a:rPr lang="en-US" sz="2300" dirty="0">
                <a:solidFill>
                  <a:srgbClr val="0F1B2D"/>
                </a:solidFill>
                <a:latin typeface="Calibri (MS)"/>
                <a:ea typeface="Calibri (MS)"/>
                <a:cs typeface="Calibri (MS)"/>
                <a:sym typeface="Calibri (MS)"/>
              </a:rPr>
              <a:t>Each CNN filter acts as a motif detector. 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4583" y="3736334"/>
            <a:ext cx="5603176" cy="793432"/>
          </a:xfrm>
          <a:custGeom>
            <a:avLst/>
            <a:gdLst/>
            <a:ahLst/>
            <a:cxnLst/>
            <a:rect l="l" t="t" r="r" b="b"/>
            <a:pathLst>
              <a:path w="5603176" h="793432">
                <a:moveTo>
                  <a:pt x="0" y="0"/>
                </a:moveTo>
                <a:lnTo>
                  <a:pt x="5603177" y="0"/>
                </a:lnTo>
                <a:lnTo>
                  <a:pt x="5603177" y="793432"/>
                </a:lnTo>
                <a:lnTo>
                  <a:pt x="0" y="793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084583" y="3785626"/>
            <a:ext cx="5394960" cy="694944"/>
            <a:chOff x="0" y="0"/>
            <a:chExt cx="7193280" cy="9265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93280" cy="926592"/>
            </a:xfrm>
            <a:custGeom>
              <a:avLst/>
              <a:gdLst/>
              <a:ahLst/>
              <a:cxnLst/>
              <a:rect l="l" t="t" r="r" b="b"/>
              <a:pathLst>
                <a:path w="7193280" h="926592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160" b="-101159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084583" y="3735619"/>
            <a:ext cx="5394960" cy="744950"/>
            <a:chOff x="0" y="0"/>
            <a:chExt cx="7193280" cy="9932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93280" cy="993267"/>
            </a:xfrm>
            <a:custGeom>
              <a:avLst/>
              <a:gdLst/>
              <a:ahLst/>
              <a:cxnLst/>
              <a:rect l="l" t="t" r="r" b="b"/>
              <a:pathLst>
                <a:path w="7193280" h="993267">
                  <a:moveTo>
                    <a:pt x="0" y="0"/>
                  </a:moveTo>
                  <a:lnTo>
                    <a:pt x="7193280" y="0"/>
                  </a:lnTo>
                  <a:lnTo>
                    <a:pt x="7193280" y="993267"/>
                  </a:lnTo>
                  <a:lnTo>
                    <a:pt x="0" y="9932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111" b="-9111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7193280" cy="10599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Vts1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0228088" y="3736343"/>
            <a:ext cx="5603177" cy="793433"/>
          </a:xfrm>
          <a:custGeom>
            <a:avLst/>
            <a:gdLst/>
            <a:ahLst/>
            <a:cxnLst/>
            <a:rect l="l" t="t" r="r" b="b"/>
            <a:pathLst>
              <a:path w="5603177" h="793433">
                <a:moveTo>
                  <a:pt x="0" y="0"/>
                </a:moveTo>
                <a:lnTo>
                  <a:pt x="5603176" y="0"/>
                </a:lnTo>
                <a:lnTo>
                  <a:pt x="5603176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0436371" y="3785626"/>
            <a:ext cx="5394960" cy="694944"/>
            <a:chOff x="0" y="0"/>
            <a:chExt cx="7193280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93280" cy="926592"/>
            </a:xfrm>
            <a:custGeom>
              <a:avLst/>
              <a:gdLst/>
              <a:ahLst/>
              <a:cxnLst/>
              <a:rect l="l" t="t" r="r" b="b"/>
              <a:pathLst>
                <a:path w="7193280" h="926592">
                  <a:moveTo>
                    <a:pt x="0" y="0"/>
                  </a:moveTo>
                  <a:lnTo>
                    <a:pt x="7193280" y="0"/>
                  </a:lnTo>
                  <a:lnTo>
                    <a:pt x="719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160" b="-101159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0436371" y="3735619"/>
            <a:ext cx="5394960" cy="744950"/>
            <a:chOff x="0" y="0"/>
            <a:chExt cx="7193280" cy="9932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193280" cy="993267"/>
            </a:xfrm>
            <a:custGeom>
              <a:avLst/>
              <a:gdLst/>
              <a:ahLst/>
              <a:cxnLst/>
              <a:rect l="l" t="t" r="r" b="b"/>
              <a:pathLst>
                <a:path w="7193280" h="993267">
                  <a:moveTo>
                    <a:pt x="0" y="0"/>
                  </a:moveTo>
                  <a:lnTo>
                    <a:pt x="7193280" y="0"/>
                  </a:lnTo>
                  <a:lnTo>
                    <a:pt x="7193280" y="993267"/>
                  </a:lnTo>
                  <a:lnTo>
                    <a:pt x="0" y="9932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111" b="-9111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7193280" cy="10599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08402" y="4967992"/>
            <a:ext cx="8250898" cy="4538596"/>
            <a:chOff x="0" y="0"/>
            <a:chExt cx="11001197" cy="605146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01248" cy="6051423"/>
            </a:xfrm>
            <a:custGeom>
              <a:avLst/>
              <a:gdLst/>
              <a:ahLst/>
              <a:cxnLst/>
              <a:rect l="l" t="t" r="r" b="b"/>
              <a:pathLst>
                <a:path w="11001248" h="6051423">
                  <a:moveTo>
                    <a:pt x="0" y="0"/>
                  </a:moveTo>
                  <a:lnTo>
                    <a:pt x="11001248" y="0"/>
                  </a:lnTo>
                  <a:lnTo>
                    <a:pt x="11001248" y="6051423"/>
                  </a:lnTo>
                  <a:lnTo>
                    <a:pt x="0" y="6051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63097" y="4920367"/>
            <a:ext cx="8086296" cy="4463063"/>
            <a:chOff x="0" y="0"/>
            <a:chExt cx="10781728" cy="59507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81665" cy="5950712"/>
            </a:xfrm>
            <a:custGeom>
              <a:avLst/>
              <a:gdLst/>
              <a:ahLst/>
              <a:cxnLst/>
              <a:rect l="l" t="t" r="r" b="b"/>
              <a:pathLst>
                <a:path w="10781665" h="5950712">
                  <a:moveTo>
                    <a:pt x="0" y="0"/>
                  </a:moveTo>
                  <a:lnTo>
                    <a:pt x="10781665" y="0"/>
                  </a:lnTo>
                  <a:lnTo>
                    <a:pt x="10781665" y="5950712"/>
                  </a:lnTo>
                  <a:lnTo>
                    <a:pt x="0" y="5950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83463" y="-561337"/>
            <a:ext cx="3683032" cy="3682936"/>
          </a:xfrm>
          <a:custGeom>
            <a:avLst/>
            <a:gdLst/>
            <a:ahLst/>
            <a:cxnLst/>
            <a:rect l="l" t="t" r="r" b="b"/>
            <a:pathLst>
              <a:path w="3683032" h="3682936">
                <a:moveTo>
                  <a:pt x="0" y="0"/>
                </a:moveTo>
                <a:lnTo>
                  <a:pt x="3683032" y="0"/>
                </a:lnTo>
                <a:lnTo>
                  <a:pt x="3683032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75737" y="6388103"/>
            <a:ext cx="3317272" cy="3317176"/>
          </a:xfrm>
          <a:custGeom>
            <a:avLst/>
            <a:gdLst/>
            <a:ahLst/>
            <a:cxnLst/>
            <a:rect l="l" t="t" r="r" b="b"/>
            <a:pathLst>
              <a:path w="3317272" h="3317176">
                <a:moveTo>
                  <a:pt x="0" y="0"/>
                </a:moveTo>
                <a:lnTo>
                  <a:pt x="3317272" y="0"/>
                </a:lnTo>
                <a:lnTo>
                  <a:pt x="3317272" y="3317177"/>
                </a:lnTo>
                <a:lnTo>
                  <a:pt x="0" y="3317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97280" y="365760"/>
            <a:ext cx="16093440" cy="1188720"/>
            <a:chOff x="0" y="0"/>
            <a:chExt cx="21457920" cy="1584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13613" b="-21361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97280" y="258604"/>
            <a:ext cx="16093440" cy="1295876"/>
            <a:chOff x="0" y="0"/>
            <a:chExt cx="21457920" cy="17278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57920" cy="1727835"/>
            </a:xfrm>
            <a:custGeom>
              <a:avLst/>
              <a:gdLst/>
              <a:ahLst/>
              <a:cxnLst/>
              <a:rect l="l" t="t" r="r" b="b"/>
              <a:pathLst>
                <a:path w="21457920" h="1727835">
                  <a:moveTo>
                    <a:pt x="0" y="0"/>
                  </a:moveTo>
                  <a:lnTo>
                    <a:pt x="21457920" y="0"/>
                  </a:lnTo>
                  <a:lnTo>
                    <a:pt x="21457920" y="1727835"/>
                  </a:lnTo>
                  <a:lnTo>
                    <a:pt x="0" y="17278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91983" b="-19198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21457920" cy="1870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895350" y="1901190"/>
            <a:ext cx="8267700" cy="3512820"/>
          </a:xfrm>
          <a:custGeom>
            <a:avLst/>
            <a:gdLst/>
            <a:ahLst/>
            <a:cxnLst/>
            <a:rect l="l" t="t" r="r" b="b"/>
            <a:pathLst>
              <a:path w="8267700" h="3512820">
                <a:moveTo>
                  <a:pt x="0" y="0"/>
                </a:moveTo>
                <a:lnTo>
                  <a:pt x="8267700" y="0"/>
                </a:lnTo>
                <a:lnTo>
                  <a:pt x="8267700" y="3512820"/>
                </a:lnTo>
                <a:lnTo>
                  <a:pt x="0" y="3512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88720" y="2103120"/>
            <a:ext cx="7680960" cy="768096"/>
            <a:chOff x="0" y="0"/>
            <a:chExt cx="10241280" cy="10241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44714" b="-14471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88720" y="2926080"/>
            <a:ext cx="7680960" cy="2286000"/>
            <a:chOff x="0" y="0"/>
            <a:chExt cx="10241280" cy="304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41280" cy="3048000"/>
            </a:xfrm>
            <a:custGeom>
              <a:avLst/>
              <a:gdLst/>
              <a:ahLst/>
              <a:cxnLst/>
              <a:rect l="l" t="t" r="r" b="b"/>
              <a:pathLst>
                <a:path w="10241280" h="3048000">
                  <a:moveTo>
                    <a:pt x="0" y="0"/>
                  </a:moveTo>
                  <a:lnTo>
                    <a:pt x="10241280" y="0"/>
                  </a:lnTo>
                  <a:lnTo>
                    <a:pt x="102412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5424" b="-1542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88720" y="2890361"/>
            <a:ext cx="7680960" cy="2321719"/>
            <a:chOff x="0" y="0"/>
            <a:chExt cx="10241280" cy="3095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1280" cy="3095625"/>
            </a:xfrm>
            <a:custGeom>
              <a:avLst/>
              <a:gdLst/>
              <a:ahLst/>
              <a:cxnLst/>
              <a:rect l="l" t="t" r="r" b="b"/>
              <a:pathLst>
                <a:path w="10241280" h="3095625">
                  <a:moveTo>
                    <a:pt x="0" y="0"/>
                  </a:moveTo>
                  <a:lnTo>
                    <a:pt x="10241280" y="0"/>
                  </a:lnTo>
                  <a:lnTo>
                    <a:pt x="10241280" y="3095625"/>
                  </a:lnTo>
                  <a:lnTo>
                    <a:pt x="0" y="30956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4462" b="-1446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241280" cy="3143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DLPRB CNN avg Pearson r = 0.682 and RNN = 0.683 on RNAcompete — far exceeding RCK (0.46) and DeepBind (0.41). RNN approaches the biological replicate ceiling of 0.581.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765030" y="1901190"/>
            <a:ext cx="8267700" cy="3512820"/>
          </a:xfrm>
          <a:custGeom>
            <a:avLst/>
            <a:gdLst/>
            <a:ahLst/>
            <a:cxnLst/>
            <a:rect l="l" t="t" r="r" b="b"/>
            <a:pathLst>
              <a:path w="8267700" h="3512820">
                <a:moveTo>
                  <a:pt x="0" y="0"/>
                </a:moveTo>
                <a:lnTo>
                  <a:pt x="8267700" y="0"/>
                </a:lnTo>
                <a:lnTo>
                  <a:pt x="8267700" y="3512820"/>
                </a:lnTo>
                <a:lnTo>
                  <a:pt x="0" y="3512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0058400" y="2926080"/>
            <a:ext cx="7680960" cy="2286000"/>
            <a:chOff x="0" y="0"/>
            <a:chExt cx="10241280" cy="304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41280" cy="3048000"/>
            </a:xfrm>
            <a:custGeom>
              <a:avLst/>
              <a:gdLst/>
              <a:ahLst/>
              <a:cxnLst/>
              <a:rect l="l" t="t" r="r" b="b"/>
              <a:pathLst>
                <a:path w="10241280" h="3048000">
                  <a:moveTo>
                    <a:pt x="0" y="0"/>
                  </a:moveTo>
                  <a:lnTo>
                    <a:pt x="10241280" y="0"/>
                  </a:lnTo>
                  <a:lnTo>
                    <a:pt x="102412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5424" b="-1542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0058400" y="2890361"/>
            <a:ext cx="7680960" cy="2321719"/>
            <a:chOff x="0" y="0"/>
            <a:chExt cx="10241280" cy="30956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0" cy="3095625"/>
            </a:xfrm>
            <a:custGeom>
              <a:avLst/>
              <a:gdLst/>
              <a:ahLst/>
              <a:cxnLst/>
              <a:rect l="l" t="t" r="r" b="b"/>
              <a:pathLst>
                <a:path w="10241280" h="3095625">
                  <a:moveTo>
                    <a:pt x="0" y="0"/>
                  </a:moveTo>
                  <a:lnTo>
                    <a:pt x="10241280" y="0"/>
                  </a:lnTo>
                  <a:lnTo>
                    <a:pt x="10241280" y="3095625"/>
                  </a:lnTo>
                  <a:lnTo>
                    <a:pt x="0" y="30956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4462" b="-1446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241280" cy="3143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Adding RNA secondary structure (5 structural contexts from </a:t>
              </a:r>
              <a:r>
                <a:rPr lang="en-US" sz="2200" dirty="0" err="1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RNAplfold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) gives statistically significant improvement over sequence-only (</a:t>
              </a:r>
              <a:r>
                <a:rPr lang="en-US" sz="2200" dirty="0" err="1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Δr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= +0.011, p = 0.006). Experimentally-measured structure improves in vivo prediction further.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895350" y="5741670"/>
            <a:ext cx="8267700" cy="3512820"/>
          </a:xfrm>
          <a:custGeom>
            <a:avLst/>
            <a:gdLst/>
            <a:ahLst/>
            <a:cxnLst/>
            <a:rect l="l" t="t" r="r" b="b"/>
            <a:pathLst>
              <a:path w="8267700" h="3512820">
                <a:moveTo>
                  <a:pt x="0" y="0"/>
                </a:moveTo>
                <a:lnTo>
                  <a:pt x="8267700" y="0"/>
                </a:lnTo>
                <a:lnTo>
                  <a:pt x="8267700" y="3512820"/>
                </a:lnTo>
                <a:lnTo>
                  <a:pt x="0" y="3512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188720" y="6766560"/>
            <a:ext cx="7680960" cy="2286000"/>
            <a:chOff x="0" y="0"/>
            <a:chExt cx="10241280" cy="3048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241280" cy="3048000"/>
            </a:xfrm>
            <a:custGeom>
              <a:avLst/>
              <a:gdLst/>
              <a:ahLst/>
              <a:cxnLst/>
              <a:rect l="l" t="t" r="r" b="b"/>
              <a:pathLst>
                <a:path w="10241280" h="3048000">
                  <a:moveTo>
                    <a:pt x="0" y="0"/>
                  </a:moveTo>
                  <a:lnTo>
                    <a:pt x="10241280" y="0"/>
                  </a:lnTo>
                  <a:lnTo>
                    <a:pt x="102412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5424" b="-15424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188720" y="6730841"/>
            <a:ext cx="7680960" cy="2321719"/>
            <a:chOff x="0" y="0"/>
            <a:chExt cx="10241280" cy="30956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41280" cy="3095625"/>
            </a:xfrm>
            <a:custGeom>
              <a:avLst/>
              <a:gdLst/>
              <a:ahLst/>
              <a:cxnLst/>
              <a:rect l="l" t="t" r="r" b="b"/>
              <a:pathLst>
                <a:path w="10241280" h="3095625">
                  <a:moveTo>
                    <a:pt x="0" y="0"/>
                  </a:moveTo>
                  <a:lnTo>
                    <a:pt x="10241280" y="0"/>
                  </a:lnTo>
                  <a:lnTo>
                    <a:pt x="10241280" y="3095625"/>
                  </a:lnTo>
                  <a:lnTo>
                    <a:pt x="0" y="30956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4462" b="-1446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0241280" cy="3143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filters act as motif detectors. Logos for Pum2, Vts1, </a:t>
              </a:r>
              <a:r>
                <a:rPr lang="en-US" sz="2200" dirty="0" err="1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HuR</a:t>
              </a:r>
              <a:r>
                <a:rPr lang="en-US" sz="2200" dirty="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show strong concordance with known binding sites discovered by independent methods on different datasets.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9765030" y="5741670"/>
            <a:ext cx="8267700" cy="3512820"/>
          </a:xfrm>
          <a:custGeom>
            <a:avLst/>
            <a:gdLst/>
            <a:ahLst/>
            <a:cxnLst/>
            <a:rect l="l" t="t" r="r" b="b"/>
            <a:pathLst>
              <a:path w="8267700" h="3512820">
                <a:moveTo>
                  <a:pt x="0" y="0"/>
                </a:moveTo>
                <a:lnTo>
                  <a:pt x="8267700" y="0"/>
                </a:lnTo>
                <a:lnTo>
                  <a:pt x="8267700" y="3512820"/>
                </a:lnTo>
                <a:lnTo>
                  <a:pt x="0" y="3512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0058400" y="6766560"/>
            <a:ext cx="7680960" cy="2286000"/>
            <a:chOff x="0" y="0"/>
            <a:chExt cx="10241280" cy="3048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241280" cy="3048000"/>
            </a:xfrm>
            <a:custGeom>
              <a:avLst/>
              <a:gdLst/>
              <a:ahLst/>
              <a:cxnLst/>
              <a:rect l="l" t="t" r="r" b="b"/>
              <a:pathLst>
                <a:path w="10241280" h="3048000">
                  <a:moveTo>
                    <a:pt x="0" y="0"/>
                  </a:moveTo>
                  <a:lnTo>
                    <a:pt x="10241280" y="0"/>
                  </a:lnTo>
                  <a:lnTo>
                    <a:pt x="1024128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5424" b="-15424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0058400" y="6730841"/>
            <a:ext cx="7680960" cy="2321719"/>
            <a:chOff x="0" y="0"/>
            <a:chExt cx="10241280" cy="30956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241280" cy="3095625"/>
            </a:xfrm>
            <a:custGeom>
              <a:avLst/>
              <a:gdLst/>
              <a:ahLst/>
              <a:cxnLst/>
              <a:rect l="l" t="t" r="r" b="b"/>
              <a:pathLst>
                <a:path w="10241280" h="3095625">
                  <a:moveTo>
                    <a:pt x="0" y="0"/>
                  </a:moveTo>
                  <a:lnTo>
                    <a:pt x="10241280" y="0"/>
                  </a:lnTo>
                  <a:lnTo>
                    <a:pt x="10241280" y="3095625"/>
                  </a:lnTo>
                  <a:lnTo>
                    <a:pt x="0" y="30956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4462" b="-1446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0241280" cy="3143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0E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Multi-protein joint learning; higher quality in vivo data; improved interpretability; testing on additional organisms; hyperparameter novelty extensions.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-12697" y="9314183"/>
            <a:ext cx="18313336" cy="985457"/>
          </a:xfrm>
          <a:custGeom>
            <a:avLst/>
            <a:gdLst/>
            <a:ahLst/>
            <a:cxnLst/>
            <a:rect l="l" t="t" r="r" b="b"/>
            <a:pathLst>
              <a:path w="18313336" h="985457">
                <a:moveTo>
                  <a:pt x="0" y="0"/>
                </a:moveTo>
                <a:lnTo>
                  <a:pt x="18313337" y="0"/>
                </a:lnTo>
                <a:lnTo>
                  <a:pt x="18313337" y="985457"/>
                </a:lnTo>
                <a:lnTo>
                  <a:pt x="0" y="985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548640" y="9381744"/>
            <a:ext cx="17190720" cy="841248"/>
            <a:chOff x="0" y="0"/>
            <a:chExt cx="22920960" cy="11216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920961" cy="1121664"/>
            </a:xfrm>
            <a:custGeom>
              <a:avLst/>
              <a:gdLst/>
              <a:ahLst/>
              <a:cxnLst/>
              <a:rect l="l" t="t" r="r" b="b"/>
              <a:pathLst>
                <a:path w="22920961" h="1121664">
                  <a:moveTo>
                    <a:pt x="0" y="0"/>
                  </a:moveTo>
                  <a:lnTo>
                    <a:pt x="22920961" y="0"/>
                  </a:lnTo>
                  <a:lnTo>
                    <a:pt x="22920961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47895" b="-34789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1075</Words>
  <Application>Microsoft Office PowerPoint</Application>
  <PresentationFormat>Custom</PresentationFormat>
  <Paragraphs>276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 (MS)</vt:lpstr>
      <vt:lpstr>TT Rounds Condensed</vt:lpstr>
      <vt:lpstr>Calibri</vt:lpstr>
      <vt:lpstr>Calibri (MS) Italics</vt:lpstr>
      <vt:lpstr>Arial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DLPRB_Presentation_final.pptx</dc:title>
  <cp:lastModifiedBy>Aditya Singh</cp:lastModifiedBy>
  <cp:revision>2</cp:revision>
  <dcterms:created xsi:type="dcterms:W3CDTF">2006-08-16T00:00:00Z</dcterms:created>
  <dcterms:modified xsi:type="dcterms:W3CDTF">2026-04-20T16:59:13Z</dcterms:modified>
  <dc:identifier>DAHHLDOzni4</dc:identifier>
</cp:coreProperties>
</file>